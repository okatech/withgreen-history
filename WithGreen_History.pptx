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g_logo.png"/>
          <p:cNvPicPr>
            <a:picLocks noChangeAspect="1"/>
          </p:cNvPicPr>
          <p:nvPr/>
        </p:nvPicPr>
        <p:blipFill>
          <a:blip r:embed="rId2"/>
          <a:stretch>
            <a:fillRect/>
          </a:stretch>
        </p:blipFill>
        <p:spPr>
          <a:xfrm>
            <a:off x="548640" y="457200"/>
            <a:ext cx="2878649" cy="640080"/>
          </a:xfrm>
          <a:prstGeom prst="rect">
            <a:avLst/>
          </a:prstGeom>
        </p:spPr>
      </p:pic>
      <p:sp>
        <p:nvSpPr>
          <p:cNvPr id="4" name="TextBox 3"/>
          <p:cNvSpPr txBox="1"/>
          <p:nvPr/>
        </p:nvSpPr>
        <p:spPr>
          <a:xfrm>
            <a:off x="548640" y="1463040"/>
            <a:ext cx="6400800" cy="365760"/>
          </a:xfrm>
          <a:prstGeom prst="rect">
            <a:avLst/>
          </a:prstGeom>
          <a:noFill/>
        </p:spPr>
        <p:txBody>
          <a:bodyPr wrap="square" lIns="0" rIns="0" tIns="0" bIns="0" anchor="t">
            <a:spAutoFit/>
          </a:bodyPr>
          <a:lstStyle/>
          <a:p>
            <a:pPr algn="l">
              <a:lnSpc>
                <a:spcPct val="115000"/>
              </a:lnSpc>
            </a:pPr>
            <a:r>
              <a:rPr sz="1100" b="1">
                <a:solidFill>
                  <a:srgbClr val="006423"/>
                </a:solidFill>
                <a:latin typeface="DM Sans"/>
              </a:rPr>
              <a:t>WITHGREEN HISTORY  2016 → 2026</a:t>
            </a:r>
          </a:p>
        </p:txBody>
      </p:sp>
      <p:sp>
        <p:nvSpPr>
          <p:cNvPr id="5" name="Rectangle 4"/>
          <p:cNvSpPr/>
          <p:nvPr/>
        </p:nvSpPr>
        <p:spPr>
          <a:xfrm>
            <a:off x="457200" y="2240280"/>
            <a:ext cx="1554480" cy="201168"/>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1828800"/>
            <a:ext cx="914400" cy="777240"/>
          </a:xfrm>
          <a:prstGeom prst="rect">
            <a:avLst/>
          </a:prstGeom>
          <a:noFill/>
        </p:spPr>
        <p:txBody>
          <a:bodyPr wrap="square" lIns="0" rIns="0" tIns="0" bIns="0" anchor="t">
            <a:spAutoFit/>
          </a:bodyPr>
          <a:lstStyle/>
          <a:p>
            <a:pPr algn="ctr">
              <a:lnSpc>
                <a:spcPct val="115000"/>
              </a:lnSpc>
            </a:pPr>
            <a:r>
              <a:rPr sz="4200" b="1">
                <a:solidFill>
                  <a:srgbClr val="006423"/>
                </a:solidFill>
                <a:latin typeface="DM Sans"/>
              </a:rPr>
              <a:t>50</a:t>
            </a:r>
          </a:p>
        </p:txBody>
      </p:sp>
      <p:sp>
        <p:nvSpPr>
          <p:cNvPr id="7" name="TextBox 6"/>
          <p:cNvSpPr txBox="1"/>
          <p:nvPr/>
        </p:nvSpPr>
        <p:spPr>
          <a:xfrm>
            <a:off x="3108960" y="1828800"/>
            <a:ext cx="1097280" cy="777240"/>
          </a:xfrm>
          <a:prstGeom prst="rect">
            <a:avLst/>
          </a:prstGeom>
          <a:noFill/>
        </p:spPr>
        <p:txBody>
          <a:bodyPr wrap="square" lIns="0" rIns="0" tIns="0" bIns="0" anchor="t">
            <a:spAutoFit/>
          </a:bodyPr>
          <a:lstStyle/>
          <a:p>
            <a:pPr algn="ctr">
              <a:lnSpc>
                <a:spcPct val="115000"/>
              </a:lnSpc>
            </a:pPr>
            <a:r>
              <a:rPr sz="4200" b="1">
                <a:solidFill>
                  <a:srgbClr val="D8232A"/>
                </a:solidFill>
                <a:latin typeface="DM Sans"/>
              </a:rPr>
              <a:t>10th</a:t>
            </a:r>
          </a:p>
        </p:txBody>
      </p:sp>
      <p:sp>
        <p:nvSpPr>
          <p:cNvPr id="8" name="Rectangle 7"/>
          <p:cNvSpPr/>
          <p:nvPr/>
        </p:nvSpPr>
        <p:spPr>
          <a:xfrm>
            <a:off x="4389120" y="2240280"/>
            <a:ext cx="1554480" cy="201168"/>
          </a:xfrm>
          <a:prstGeom prst="rect">
            <a:avLst/>
          </a:prstGeom>
          <a:solidFill>
            <a:srgbClr val="D82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532888"/>
            <a:ext cx="914400" cy="274320"/>
          </a:xfrm>
          <a:prstGeom prst="rect">
            <a:avLst/>
          </a:prstGeom>
          <a:noFill/>
        </p:spPr>
        <p:txBody>
          <a:bodyPr wrap="square" lIns="0" rIns="0" tIns="0" bIns="0" anchor="t">
            <a:spAutoFit/>
          </a:bodyPr>
          <a:lstStyle/>
          <a:p>
            <a:pPr algn="ctr">
              <a:lnSpc>
                <a:spcPct val="115000"/>
              </a:lnSpc>
            </a:pPr>
            <a:r>
              <a:rPr sz="800" b="1">
                <a:solidFill>
                  <a:srgbClr val="006423"/>
                </a:solidFill>
                <a:latin typeface="DM Sans"/>
              </a:rPr>
              <a:t>STORES</a:t>
            </a:r>
          </a:p>
        </p:txBody>
      </p:sp>
      <p:sp>
        <p:nvSpPr>
          <p:cNvPr id="10" name="TextBox 9"/>
          <p:cNvSpPr txBox="1"/>
          <p:nvPr/>
        </p:nvSpPr>
        <p:spPr>
          <a:xfrm>
            <a:off x="3108960" y="2532888"/>
            <a:ext cx="1097280" cy="274320"/>
          </a:xfrm>
          <a:prstGeom prst="rect">
            <a:avLst/>
          </a:prstGeom>
          <a:noFill/>
        </p:spPr>
        <p:txBody>
          <a:bodyPr wrap="square" lIns="0" rIns="0" tIns="0" bIns="0" anchor="t">
            <a:spAutoFit/>
          </a:bodyPr>
          <a:lstStyle/>
          <a:p>
            <a:pPr algn="ctr">
              <a:lnSpc>
                <a:spcPct val="115000"/>
              </a:lnSpc>
            </a:pPr>
            <a:r>
              <a:rPr sz="800" b="1">
                <a:solidFill>
                  <a:srgbClr val="D8232A"/>
                </a:solidFill>
                <a:latin typeface="DM Sans"/>
              </a:rPr>
              <a:t>ANNIVERSARY</a:t>
            </a:r>
          </a:p>
        </p:txBody>
      </p:sp>
      <p:sp>
        <p:nvSpPr>
          <p:cNvPr id="11" name="TextBox 10"/>
          <p:cNvSpPr txBox="1"/>
          <p:nvPr/>
        </p:nvSpPr>
        <p:spPr>
          <a:xfrm>
            <a:off x="548640" y="2788920"/>
            <a:ext cx="7315200" cy="1920240"/>
          </a:xfrm>
          <a:prstGeom prst="rect">
            <a:avLst/>
          </a:prstGeom>
          <a:noFill/>
        </p:spPr>
        <p:txBody>
          <a:bodyPr wrap="square" lIns="0" rIns="0" tIns="0" bIns="0" anchor="t">
            <a:spAutoFit/>
          </a:bodyPr>
          <a:lstStyle/>
          <a:p>
            <a:pPr algn="l">
              <a:lnSpc>
                <a:spcPct val="125000"/>
              </a:lnSpc>
            </a:pPr>
            <a:r>
              <a:rPr sz="4400" b="1">
                <a:solidFill>
                  <a:srgbClr val="101410"/>
                </a:solidFill>
                <a:latin typeface="Noto Sans JP"/>
              </a:rPr>
              <a:t>サラダボウルで、</a:t>
            </a:r>
          </a:p>
          <a:p>
            <a:pPr algn="l">
              <a:lnSpc>
                <a:spcPct val="125000"/>
              </a:lnSpc>
            </a:pPr>
            <a:r>
              <a:rPr sz="4400" b="1">
                <a:solidFill>
                  <a:srgbClr val="101410"/>
                </a:solidFill>
                <a:latin typeface="Noto Sans JP"/>
              </a:rPr>
              <a:t>日本の食卓を変える。</a:t>
            </a:r>
          </a:p>
        </p:txBody>
      </p:sp>
      <p:sp>
        <p:nvSpPr>
          <p:cNvPr id="12" name="TextBox 11"/>
          <p:cNvSpPr txBox="1"/>
          <p:nvPr/>
        </p:nvSpPr>
        <p:spPr>
          <a:xfrm>
            <a:off x="548640" y="4572000"/>
            <a:ext cx="6858000" cy="1097280"/>
          </a:xfrm>
          <a:prstGeom prst="rect">
            <a:avLst/>
          </a:prstGeom>
          <a:noFill/>
        </p:spPr>
        <p:txBody>
          <a:bodyPr wrap="square" lIns="0" rIns="0" tIns="0" bIns="0" anchor="t">
            <a:spAutoFit/>
          </a:bodyPr>
          <a:lstStyle/>
          <a:p>
            <a:pPr algn="l">
              <a:lnSpc>
                <a:spcPct val="155000"/>
              </a:lnSpc>
            </a:pPr>
            <a:r>
              <a:rPr sz="1200" b="0">
                <a:solidFill>
                  <a:srgbClr val="5A655C"/>
                </a:solidFill>
                <a:latin typeface="Noto Sans JP"/>
              </a:rPr>
              <a:t>創業者・武文智洋（たけふみ ともひろ）社長の実際の発言だけで振り返る、</a:t>
            </a:r>
          </a:p>
          <a:p>
            <a:pPr algn="l">
              <a:lnSpc>
                <a:spcPct val="155000"/>
              </a:lnSpc>
            </a:pPr>
            <a:r>
              <a:rPr sz="1200" b="0">
                <a:solidFill>
                  <a:srgbClr val="5A655C"/>
                </a:solidFill>
                <a:latin typeface="Noto Sans JP"/>
              </a:rPr>
              <a:t>サラダボウル専門店『WithGreen』創業から10年・全国50店舗達成までの歩み。</a:t>
            </a:r>
          </a:p>
        </p:txBody>
      </p:sp>
      <p:pic>
        <p:nvPicPr>
          <p:cNvPr id="13" name="Picture 12" descr="takefumi-portrait.jpg"/>
          <p:cNvPicPr>
            <a:picLocks noChangeAspect="1"/>
          </p:cNvPicPr>
          <p:nvPr/>
        </p:nvPicPr>
        <p:blipFill>
          <a:blip r:embed="rId3"/>
          <a:srcRect/>
          <a:stretch>
            <a:fillRect/>
          </a:stretch>
        </p:blipFill>
        <p:spPr>
          <a:xfrm>
            <a:off x="8138160" y="1463040"/>
            <a:ext cx="3474720" cy="3474720"/>
          </a:xfrm>
          <a:prstGeom prst="rect">
            <a:avLst/>
          </a:prstGeom>
        </p:spPr>
      </p:pic>
      <p:sp>
        <p:nvSpPr>
          <p:cNvPr id="14" name="Oval 13"/>
          <p:cNvSpPr/>
          <p:nvPr/>
        </p:nvSpPr>
        <p:spPr>
          <a:xfrm>
            <a:off x="8092440" y="1417320"/>
            <a:ext cx="3566160" cy="3566160"/>
          </a:xfrm>
          <a:prstGeom prst="ellipse">
            <a:avLst/>
          </a:prstGeom>
          <a:noFill/>
          <a:ln w="38100">
            <a:solidFill>
              <a:srgbClr val="0064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5074920"/>
            <a:ext cx="3474720" cy="365760"/>
          </a:xfrm>
          <a:prstGeom prst="rect">
            <a:avLst/>
          </a:prstGeom>
          <a:noFill/>
        </p:spPr>
        <p:txBody>
          <a:bodyPr wrap="square" lIns="0" rIns="0" tIns="0" bIns="0" anchor="t">
            <a:spAutoFit/>
          </a:bodyPr>
          <a:lstStyle/>
          <a:p>
            <a:pPr algn="ctr">
              <a:lnSpc>
                <a:spcPct val="115000"/>
              </a:lnSpc>
            </a:pPr>
            <a:r>
              <a:rPr sz="1300" b="1">
                <a:solidFill>
                  <a:srgbClr val="101410"/>
                </a:solidFill>
                <a:latin typeface="Noto Sans JP"/>
              </a:rPr>
              <a:t>武文 智洋 ／ 代表取締役兼CEO</a:t>
            </a:r>
          </a:p>
        </p:txBody>
      </p:sp>
      <p:sp>
        <p:nvSpPr>
          <p:cNvPr id="16" name="TextBox 15"/>
          <p:cNvSpPr txBox="1"/>
          <p:nvPr/>
        </p:nvSpPr>
        <p:spPr>
          <a:xfrm>
            <a:off x="8138160" y="5440680"/>
            <a:ext cx="3474720" cy="274320"/>
          </a:xfrm>
          <a:prstGeom prst="rect">
            <a:avLst/>
          </a:prstGeom>
          <a:noFill/>
        </p:spPr>
        <p:txBody>
          <a:bodyPr wrap="square" lIns="0" rIns="0" tIns="0" bIns="0" anchor="t">
            <a:spAutoFit/>
          </a:bodyPr>
          <a:lstStyle/>
          <a:p>
            <a:pPr algn="ctr">
              <a:lnSpc>
                <a:spcPct val="115000"/>
              </a:lnSpc>
            </a:pPr>
            <a:r>
              <a:rPr sz="900" b="1">
                <a:solidFill>
                  <a:srgbClr val="006423"/>
                </a:solidFill>
                <a:latin typeface="DM Sans"/>
              </a:rPr>
              <a:t>TOMOHIRO TAKEFUMI · FOUNDER &amp; CEO</a:t>
            </a:r>
          </a:p>
        </p:txBody>
      </p:sp>
      <p:sp>
        <p:nvSpPr>
          <p:cNvPr id="17" name="Rectangle 16"/>
          <p:cNvSpPr/>
          <p:nvPr/>
        </p:nvSpPr>
        <p:spPr>
          <a:xfrm>
            <a:off x="0" y="6473952"/>
            <a:ext cx="12191695" cy="384048"/>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6492240"/>
            <a:ext cx="7315200" cy="365760"/>
          </a:xfrm>
          <a:prstGeom prst="rect">
            <a:avLst/>
          </a:prstGeom>
          <a:noFill/>
        </p:spPr>
        <p:txBody>
          <a:bodyPr wrap="square" lIns="0" rIns="0" tIns="0" bIns="0" anchor="ctr">
            <a:spAutoFit/>
          </a:bodyPr>
          <a:lstStyle/>
          <a:p>
            <a:pPr algn="l">
              <a:lnSpc>
                <a:spcPct val="115000"/>
              </a:lnSpc>
            </a:pPr>
            <a:r>
              <a:rPr sz="900" b="1">
                <a:solidFill>
                  <a:srgbClr val="FFFFFF"/>
                </a:solidFill>
                <a:latin typeface="Noto Sans JP"/>
              </a:rPr>
              <a:t>WITHGREEN HISTORY  ／  創業者・武文智洋社長の言葉でたどる10年の歩み</a:t>
            </a:r>
          </a:p>
        </p:txBody>
      </p:sp>
      <p:sp>
        <p:nvSpPr>
          <p:cNvPr id="19" name="TextBox 18"/>
          <p:cNvSpPr txBox="1"/>
          <p:nvPr/>
        </p:nvSpPr>
        <p:spPr>
          <a:xfrm>
            <a:off x="10362895" y="6492240"/>
            <a:ext cx="1463040" cy="365760"/>
          </a:xfrm>
          <a:prstGeom prst="rect">
            <a:avLst/>
          </a:prstGeom>
          <a:noFill/>
        </p:spPr>
        <p:txBody>
          <a:bodyPr wrap="square" lIns="0" rIns="0" tIns="0" bIns="0" anchor="ctr">
            <a:spAutoFit/>
          </a:bodyPr>
          <a:lstStyle/>
          <a:p>
            <a:pPr algn="r">
              <a:lnSpc>
                <a:spcPct val="115000"/>
              </a:lnSpc>
            </a:pPr>
            <a:r>
              <a:rPr sz="900" b="1">
                <a:solidFill>
                  <a:srgbClr val="FFFFFF"/>
                </a:solidFill>
                <a:latin typeface="DM Sans"/>
              </a:rPr>
              <a:t>01 / 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6400800" cy="256032"/>
          </a:xfrm>
          <a:prstGeom prst="rect">
            <a:avLst/>
          </a:prstGeom>
          <a:noFill/>
        </p:spPr>
        <p:txBody>
          <a:bodyPr wrap="square" lIns="0" rIns="0" tIns="0" bIns="0" anchor="ctr">
            <a:spAutoFit/>
          </a:bodyPr>
          <a:lstStyle/>
          <a:p>
            <a:pPr algn="l">
              <a:lnSpc>
                <a:spcPct val="115000"/>
              </a:lnSpc>
            </a:pPr>
            <a:r>
              <a:rPr sz="900" b="1">
                <a:solidFill>
                  <a:srgbClr val="006423"/>
                </a:solidFill>
                <a:latin typeface="DM Sans"/>
              </a:rPr>
              <a:t>CHAPTER 01  ／  THE NUMBERS</a:t>
            </a:r>
          </a:p>
        </p:txBody>
      </p:sp>
      <p:sp>
        <p:nvSpPr>
          <p:cNvPr id="5" name="TextBox 4"/>
          <p:cNvSpPr txBox="1"/>
          <p:nvPr/>
        </p:nvSpPr>
        <p:spPr>
          <a:xfrm>
            <a:off x="4419295" y="45720"/>
            <a:ext cx="7315200" cy="256032"/>
          </a:xfrm>
          <a:prstGeom prst="rect">
            <a:avLst/>
          </a:prstGeom>
          <a:noFill/>
        </p:spPr>
        <p:txBody>
          <a:bodyPr wrap="square" lIns="0" rIns="0" tIns="0" bIns="0" anchor="ctr">
            <a:spAutoFit/>
          </a:bodyPr>
          <a:lstStyle/>
          <a:p>
            <a:pPr algn="r">
              <a:lnSpc>
                <a:spcPct val="115000"/>
              </a:lnSpc>
            </a:pPr>
            <a:r>
              <a:rPr sz="900" b="1">
                <a:solidFill>
                  <a:srgbClr val="101410"/>
                </a:solidFill>
                <a:latin typeface="Noto Sans JP"/>
              </a:rPr>
              <a:t>数字で見る WithGreen の10年</a:t>
            </a:r>
          </a:p>
        </p:txBody>
      </p:sp>
      <p:sp>
        <p:nvSpPr>
          <p:cNvPr id="6" name="TextBox 5"/>
          <p:cNvSpPr txBox="1"/>
          <p:nvPr/>
        </p:nvSpPr>
        <p:spPr>
          <a:xfrm>
            <a:off x="457200" y="594360"/>
            <a:ext cx="10972800" cy="640080"/>
          </a:xfrm>
          <a:prstGeom prst="rect">
            <a:avLst/>
          </a:prstGeom>
          <a:noFill/>
        </p:spPr>
        <p:txBody>
          <a:bodyPr wrap="square" lIns="0" rIns="0" tIns="0" bIns="0" anchor="t">
            <a:spAutoFit/>
          </a:bodyPr>
          <a:lstStyle/>
          <a:p>
            <a:pPr algn="l">
              <a:lnSpc>
                <a:spcPct val="115000"/>
              </a:lnSpc>
            </a:pPr>
            <a:r>
              <a:rPr sz="2800" b="1">
                <a:solidFill>
                  <a:srgbClr val="101410"/>
                </a:solidFill>
                <a:latin typeface="Noto Sans JP"/>
              </a:rPr>
              <a:t>創業10年で、店舗数は </a:t>
            </a:r>
          </a:p>
        </p:txBody>
      </p:sp>
      <p:sp>
        <p:nvSpPr>
          <p:cNvPr id="7" name="TextBox 6"/>
          <p:cNvSpPr txBox="1"/>
          <p:nvPr/>
        </p:nvSpPr>
        <p:spPr>
          <a:xfrm>
            <a:off x="5120640" y="594360"/>
            <a:ext cx="2286000" cy="640080"/>
          </a:xfrm>
          <a:prstGeom prst="rect">
            <a:avLst/>
          </a:prstGeom>
          <a:noFill/>
        </p:spPr>
        <p:txBody>
          <a:bodyPr wrap="square" lIns="0" rIns="0" tIns="0" bIns="0" anchor="t">
            <a:spAutoFit/>
          </a:bodyPr>
          <a:lstStyle/>
          <a:p>
            <a:pPr algn="l">
              <a:lnSpc>
                <a:spcPct val="115000"/>
              </a:lnSpc>
            </a:pPr>
            <a:r>
              <a:rPr sz="2800" b="1">
                <a:solidFill>
                  <a:srgbClr val="006423"/>
                </a:solidFill>
                <a:latin typeface="Noto Sans JP"/>
              </a:rPr>
              <a:t>1 → 50 店舗</a:t>
            </a:r>
          </a:p>
        </p:txBody>
      </p:sp>
      <p:sp>
        <p:nvSpPr>
          <p:cNvPr id="8" name="TextBox 7"/>
          <p:cNvSpPr txBox="1"/>
          <p:nvPr/>
        </p:nvSpPr>
        <p:spPr>
          <a:xfrm>
            <a:off x="7863840" y="594360"/>
            <a:ext cx="3657600" cy="640080"/>
          </a:xfrm>
          <a:prstGeom prst="rect">
            <a:avLst/>
          </a:prstGeom>
          <a:noFill/>
        </p:spPr>
        <p:txBody>
          <a:bodyPr wrap="square" lIns="0" rIns="0" tIns="0" bIns="0" anchor="t">
            <a:spAutoFit/>
          </a:bodyPr>
          <a:lstStyle/>
          <a:p>
            <a:pPr algn="l">
              <a:lnSpc>
                <a:spcPct val="115000"/>
              </a:lnSpc>
            </a:pPr>
            <a:r>
              <a:rPr sz="2800" b="1">
                <a:solidFill>
                  <a:srgbClr val="101410"/>
                </a:solidFill>
                <a:latin typeface="Noto Sans JP"/>
              </a:rPr>
              <a:t>へ。</a:t>
            </a:r>
          </a:p>
        </p:txBody>
      </p:sp>
      <p:sp>
        <p:nvSpPr>
          <p:cNvPr id="9" name="Rectangle 8"/>
          <p:cNvSpPr/>
          <p:nvPr/>
        </p:nvSpPr>
        <p:spPr>
          <a:xfrm>
            <a:off x="609447" y="1554480"/>
            <a:ext cx="2606040" cy="173736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447" y="1554480"/>
            <a:ext cx="109728" cy="173736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047" y="1783080"/>
            <a:ext cx="2240280" cy="822960"/>
          </a:xfrm>
          <a:prstGeom prst="rect">
            <a:avLst/>
          </a:prstGeom>
          <a:noFill/>
        </p:spPr>
        <p:txBody>
          <a:bodyPr wrap="square" lIns="0" rIns="0" tIns="0" bIns="0" anchor="t">
            <a:spAutoFit/>
          </a:bodyPr>
          <a:lstStyle/>
          <a:p>
            <a:pPr algn="l">
              <a:lnSpc>
                <a:spcPct val="115000"/>
              </a:lnSpc>
            </a:pPr>
            <a:r>
              <a:rPr sz="3200" b="1">
                <a:solidFill>
                  <a:srgbClr val="006423"/>
                </a:solidFill>
                <a:latin typeface="DM Sans"/>
              </a:rPr>
              <a:t>2016</a:t>
            </a:r>
          </a:p>
        </p:txBody>
      </p:sp>
      <p:sp>
        <p:nvSpPr>
          <p:cNvPr id="12" name="TextBox 11"/>
          <p:cNvSpPr txBox="1"/>
          <p:nvPr/>
        </p:nvSpPr>
        <p:spPr>
          <a:xfrm>
            <a:off x="838047" y="2606040"/>
            <a:ext cx="2240280" cy="640080"/>
          </a:xfrm>
          <a:prstGeom prst="rect">
            <a:avLst/>
          </a:prstGeom>
          <a:noFill/>
        </p:spPr>
        <p:txBody>
          <a:bodyPr wrap="square" lIns="0" rIns="0" tIns="0" bIns="0" anchor="t">
            <a:spAutoFit/>
          </a:bodyPr>
          <a:lstStyle/>
          <a:p>
            <a:pPr algn="l">
              <a:lnSpc>
                <a:spcPct val="140000"/>
              </a:lnSpc>
            </a:pPr>
            <a:r>
              <a:rPr sz="1000" b="1">
                <a:solidFill>
                  <a:srgbClr val="101410"/>
                </a:solidFill>
                <a:latin typeface="Noto Sans JP"/>
              </a:rPr>
              <a:t>神楽坂で1号店オープン</a:t>
            </a:r>
          </a:p>
        </p:txBody>
      </p:sp>
      <p:sp>
        <p:nvSpPr>
          <p:cNvPr id="13" name="Rectangle 12"/>
          <p:cNvSpPr/>
          <p:nvPr/>
        </p:nvSpPr>
        <p:spPr>
          <a:xfrm>
            <a:off x="3398367" y="1554480"/>
            <a:ext cx="2606040" cy="173736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8367" y="1554480"/>
            <a:ext cx="109728" cy="173736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6967" y="1783080"/>
            <a:ext cx="2240280" cy="822960"/>
          </a:xfrm>
          <a:prstGeom prst="rect">
            <a:avLst/>
          </a:prstGeom>
          <a:noFill/>
        </p:spPr>
        <p:txBody>
          <a:bodyPr wrap="square" lIns="0" rIns="0" tIns="0" bIns="0" anchor="t">
            <a:spAutoFit/>
          </a:bodyPr>
          <a:lstStyle/>
          <a:p>
            <a:pPr algn="l">
              <a:lnSpc>
                <a:spcPct val="115000"/>
              </a:lnSpc>
            </a:pPr>
            <a:r>
              <a:rPr sz="3200" b="1">
                <a:solidFill>
                  <a:srgbClr val="006423"/>
                </a:solidFill>
                <a:latin typeface="DM Sans"/>
              </a:rPr>
              <a:t>50</a:t>
            </a:r>
          </a:p>
        </p:txBody>
      </p:sp>
      <p:sp>
        <p:nvSpPr>
          <p:cNvPr id="16" name="TextBox 15"/>
          <p:cNvSpPr txBox="1"/>
          <p:nvPr/>
        </p:nvSpPr>
        <p:spPr>
          <a:xfrm>
            <a:off x="3626967" y="2606040"/>
            <a:ext cx="2240280" cy="640080"/>
          </a:xfrm>
          <a:prstGeom prst="rect">
            <a:avLst/>
          </a:prstGeom>
          <a:noFill/>
        </p:spPr>
        <p:txBody>
          <a:bodyPr wrap="square" lIns="0" rIns="0" tIns="0" bIns="0" anchor="t">
            <a:spAutoFit/>
          </a:bodyPr>
          <a:lstStyle/>
          <a:p>
            <a:pPr algn="l">
              <a:lnSpc>
                <a:spcPct val="140000"/>
              </a:lnSpc>
            </a:pPr>
            <a:r>
              <a:rPr sz="1000" b="1">
                <a:solidFill>
                  <a:srgbClr val="101410"/>
                </a:solidFill>
                <a:latin typeface="Noto Sans JP"/>
              </a:rPr>
              <a:t>店舗（2026年3月14日達成）</a:t>
            </a:r>
          </a:p>
        </p:txBody>
      </p:sp>
      <p:sp>
        <p:nvSpPr>
          <p:cNvPr id="17" name="Rectangle 16"/>
          <p:cNvSpPr/>
          <p:nvPr/>
        </p:nvSpPr>
        <p:spPr>
          <a:xfrm>
            <a:off x="6187287" y="1554480"/>
            <a:ext cx="2606040" cy="173736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1554480"/>
            <a:ext cx="109728" cy="173736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5887" y="1783080"/>
            <a:ext cx="2240280" cy="822960"/>
          </a:xfrm>
          <a:prstGeom prst="rect">
            <a:avLst/>
          </a:prstGeom>
          <a:noFill/>
        </p:spPr>
        <p:txBody>
          <a:bodyPr wrap="square" lIns="0" rIns="0" tIns="0" bIns="0" anchor="t">
            <a:spAutoFit/>
          </a:bodyPr>
          <a:lstStyle/>
          <a:p>
            <a:pPr algn="l">
              <a:lnSpc>
                <a:spcPct val="115000"/>
              </a:lnSpc>
            </a:pPr>
            <a:r>
              <a:rPr sz="3200" b="1">
                <a:solidFill>
                  <a:srgbClr val="006423"/>
                </a:solidFill>
                <a:latin typeface="DM Sans"/>
              </a:rPr>
              <a:t>2,500,000</a:t>
            </a:r>
          </a:p>
        </p:txBody>
      </p:sp>
      <p:sp>
        <p:nvSpPr>
          <p:cNvPr id="20" name="TextBox 19"/>
          <p:cNvSpPr txBox="1"/>
          <p:nvPr/>
        </p:nvSpPr>
        <p:spPr>
          <a:xfrm>
            <a:off x="6415887" y="2606040"/>
            <a:ext cx="2240280" cy="640080"/>
          </a:xfrm>
          <a:prstGeom prst="rect">
            <a:avLst/>
          </a:prstGeom>
          <a:noFill/>
        </p:spPr>
        <p:txBody>
          <a:bodyPr wrap="square" lIns="0" rIns="0" tIns="0" bIns="0" anchor="t">
            <a:spAutoFit/>
          </a:bodyPr>
          <a:lstStyle/>
          <a:p>
            <a:pPr algn="l">
              <a:lnSpc>
                <a:spcPct val="140000"/>
              </a:lnSpc>
            </a:pPr>
            <a:r>
              <a:rPr sz="1000" b="1">
                <a:solidFill>
                  <a:srgbClr val="101410"/>
                </a:solidFill>
                <a:latin typeface="Noto Sans JP"/>
              </a:rPr>
              <a:t>食 ／ 年間サラダ販売数</a:t>
            </a:r>
          </a:p>
        </p:txBody>
      </p:sp>
      <p:sp>
        <p:nvSpPr>
          <p:cNvPr id="21" name="Rectangle 20"/>
          <p:cNvSpPr/>
          <p:nvPr/>
        </p:nvSpPr>
        <p:spPr>
          <a:xfrm>
            <a:off x="8976207" y="1554480"/>
            <a:ext cx="2606040" cy="173736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76207" y="1554480"/>
            <a:ext cx="109728" cy="173736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04807" y="1783080"/>
            <a:ext cx="2240280" cy="822960"/>
          </a:xfrm>
          <a:prstGeom prst="rect">
            <a:avLst/>
          </a:prstGeom>
          <a:noFill/>
        </p:spPr>
        <p:txBody>
          <a:bodyPr wrap="square" lIns="0" rIns="0" tIns="0" bIns="0" anchor="t">
            <a:spAutoFit/>
          </a:bodyPr>
          <a:lstStyle/>
          <a:p>
            <a:pPr algn="l">
              <a:lnSpc>
                <a:spcPct val="115000"/>
              </a:lnSpc>
            </a:pPr>
            <a:r>
              <a:rPr sz="3200" b="1">
                <a:solidFill>
                  <a:srgbClr val="006423"/>
                </a:solidFill>
                <a:latin typeface="DM Sans"/>
              </a:rPr>
              <a:t>100%</a:t>
            </a:r>
          </a:p>
        </p:txBody>
      </p:sp>
      <p:sp>
        <p:nvSpPr>
          <p:cNvPr id="24" name="TextBox 23"/>
          <p:cNvSpPr txBox="1"/>
          <p:nvPr/>
        </p:nvSpPr>
        <p:spPr>
          <a:xfrm>
            <a:off x="9204807" y="2606040"/>
            <a:ext cx="2240280" cy="640080"/>
          </a:xfrm>
          <a:prstGeom prst="rect">
            <a:avLst/>
          </a:prstGeom>
          <a:noFill/>
        </p:spPr>
        <p:txBody>
          <a:bodyPr wrap="square" lIns="0" rIns="0" tIns="0" bIns="0" anchor="t">
            <a:spAutoFit/>
          </a:bodyPr>
          <a:lstStyle/>
          <a:p>
            <a:pPr algn="l">
              <a:lnSpc>
                <a:spcPct val="140000"/>
              </a:lnSpc>
            </a:pPr>
            <a:r>
              <a:rPr sz="1000" b="1">
                <a:solidFill>
                  <a:srgbClr val="101410"/>
                </a:solidFill>
                <a:latin typeface="Noto Sans JP"/>
              </a:rPr>
              <a:t>国産野菜（創業以来）</a:t>
            </a:r>
          </a:p>
        </p:txBody>
      </p:sp>
      <p:sp>
        <p:nvSpPr>
          <p:cNvPr id="25" name="TextBox 24"/>
          <p:cNvSpPr txBox="1"/>
          <p:nvPr/>
        </p:nvSpPr>
        <p:spPr>
          <a:xfrm>
            <a:off x="457200" y="3611880"/>
            <a:ext cx="7315200" cy="365760"/>
          </a:xfrm>
          <a:prstGeom prst="rect">
            <a:avLst/>
          </a:prstGeom>
          <a:noFill/>
        </p:spPr>
        <p:txBody>
          <a:bodyPr wrap="square" lIns="0" rIns="0" tIns="0" bIns="0" anchor="t">
            <a:spAutoFit/>
          </a:bodyPr>
          <a:lstStyle/>
          <a:p>
            <a:pPr algn="l">
              <a:lnSpc>
                <a:spcPct val="115000"/>
              </a:lnSpc>
            </a:pPr>
            <a:r>
              <a:rPr sz="1300" b="1">
                <a:solidFill>
                  <a:srgbClr val="101410"/>
                </a:solidFill>
                <a:latin typeface="Noto Sans JP"/>
              </a:rPr>
              <a:t>店舗数の推移（公表値）</a:t>
            </a:r>
          </a:p>
        </p:txBody>
      </p:sp>
      <p:sp>
        <p:nvSpPr>
          <p:cNvPr id="26" name="Rectangle 25"/>
          <p:cNvSpPr/>
          <p:nvPr/>
        </p:nvSpPr>
        <p:spPr>
          <a:xfrm>
            <a:off x="914400" y="6172200"/>
            <a:ext cx="10332720" cy="9525"/>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474470" y="6131966"/>
            <a:ext cx="1463040" cy="40233"/>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91590" y="5674766"/>
            <a:ext cx="1828800" cy="365760"/>
          </a:xfrm>
          <a:prstGeom prst="rect">
            <a:avLst/>
          </a:prstGeom>
          <a:noFill/>
        </p:spPr>
        <p:txBody>
          <a:bodyPr wrap="square" lIns="0" rIns="0" tIns="0" bIns="0" anchor="t">
            <a:spAutoFit/>
          </a:bodyPr>
          <a:lstStyle/>
          <a:p>
            <a:pPr algn="ctr">
              <a:lnSpc>
                <a:spcPct val="115000"/>
              </a:lnSpc>
            </a:pPr>
            <a:r>
              <a:rPr sz="1800" b="1">
                <a:solidFill>
                  <a:srgbClr val="006423"/>
                </a:solidFill>
                <a:latin typeface="DM Sans"/>
              </a:rPr>
              <a:t>1</a:t>
            </a:r>
          </a:p>
        </p:txBody>
      </p:sp>
      <p:sp>
        <p:nvSpPr>
          <p:cNvPr id="29" name="TextBox 28"/>
          <p:cNvSpPr txBox="1"/>
          <p:nvPr/>
        </p:nvSpPr>
        <p:spPr>
          <a:xfrm>
            <a:off x="1291590" y="6217920"/>
            <a:ext cx="1828800" cy="320040"/>
          </a:xfrm>
          <a:prstGeom prst="rect">
            <a:avLst/>
          </a:prstGeom>
          <a:noFill/>
        </p:spPr>
        <p:txBody>
          <a:bodyPr wrap="square" lIns="0" rIns="0" tIns="0" bIns="0" anchor="t">
            <a:spAutoFit/>
          </a:bodyPr>
          <a:lstStyle/>
          <a:p>
            <a:pPr algn="ctr">
              <a:lnSpc>
                <a:spcPct val="115000"/>
              </a:lnSpc>
            </a:pPr>
            <a:r>
              <a:rPr sz="1200" b="1">
                <a:solidFill>
                  <a:srgbClr val="101410"/>
                </a:solidFill>
                <a:latin typeface="DM Sans"/>
              </a:rPr>
              <a:t>2016</a:t>
            </a:r>
          </a:p>
        </p:txBody>
      </p:sp>
      <p:sp>
        <p:nvSpPr>
          <p:cNvPr id="30" name="Rectangle 29"/>
          <p:cNvSpPr/>
          <p:nvPr/>
        </p:nvSpPr>
        <p:spPr>
          <a:xfrm>
            <a:off x="4057650" y="5488228"/>
            <a:ext cx="1463040" cy="683971"/>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74770" y="5031028"/>
            <a:ext cx="1828800" cy="365760"/>
          </a:xfrm>
          <a:prstGeom prst="rect">
            <a:avLst/>
          </a:prstGeom>
          <a:noFill/>
        </p:spPr>
        <p:txBody>
          <a:bodyPr wrap="square" lIns="0" rIns="0" tIns="0" bIns="0" anchor="t">
            <a:spAutoFit/>
          </a:bodyPr>
          <a:lstStyle/>
          <a:p>
            <a:pPr algn="ctr">
              <a:lnSpc>
                <a:spcPct val="115000"/>
              </a:lnSpc>
            </a:pPr>
            <a:r>
              <a:rPr sz="1800" b="1">
                <a:solidFill>
                  <a:srgbClr val="006423"/>
                </a:solidFill>
                <a:latin typeface="DM Sans"/>
              </a:rPr>
              <a:t>17</a:t>
            </a:r>
          </a:p>
        </p:txBody>
      </p:sp>
      <p:sp>
        <p:nvSpPr>
          <p:cNvPr id="32" name="TextBox 31"/>
          <p:cNvSpPr txBox="1"/>
          <p:nvPr/>
        </p:nvSpPr>
        <p:spPr>
          <a:xfrm>
            <a:off x="3874770" y="6217920"/>
            <a:ext cx="1828800" cy="320040"/>
          </a:xfrm>
          <a:prstGeom prst="rect">
            <a:avLst/>
          </a:prstGeom>
          <a:noFill/>
        </p:spPr>
        <p:txBody>
          <a:bodyPr wrap="square" lIns="0" rIns="0" tIns="0" bIns="0" anchor="t">
            <a:spAutoFit/>
          </a:bodyPr>
          <a:lstStyle/>
          <a:p>
            <a:pPr algn="ctr">
              <a:lnSpc>
                <a:spcPct val="115000"/>
              </a:lnSpc>
            </a:pPr>
            <a:r>
              <a:rPr sz="1200" b="1">
                <a:solidFill>
                  <a:srgbClr val="101410"/>
                </a:solidFill>
                <a:latin typeface="DM Sans"/>
              </a:rPr>
              <a:t>2023</a:t>
            </a:r>
          </a:p>
        </p:txBody>
      </p:sp>
      <p:sp>
        <p:nvSpPr>
          <p:cNvPr id="33" name="Rectangle 32"/>
          <p:cNvSpPr/>
          <p:nvPr/>
        </p:nvSpPr>
        <p:spPr>
          <a:xfrm>
            <a:off x="6640830" y="4965192"/>
            <a:ext cx="1463040" cy="1207008"/>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7950" y="4507992"/>
            <a:ext cx="1828800" cy="365760"/>
          </a:xfrm>
          <a:prstGeom prst="rect">
            <a:avLst/>
          </a:prstGeom>
          <a:noFill/>
        </p:spPr>
        <p:txBody>
          <a:bodyPr wrap="square" lIns="0" rIns="0" tIns="0" bIns="0" anchor="t">
            <a:spAutoFit/>
          </a:bodyPr>
          <a:lstStyle/>
          <a:p>
            <a:pPr algn="ctr">
              <a:lnSpc>
                <a:spcPct val="115000"/>
              </a:lnSpc>
            </a:pPr>
            <a:r>
              <a:rPr sz="1800" b="1">
                <a:solidFill>
                  <a:srgbClr val="006423"/>
                </a:solidFill>
                <a:latin typeface="DM Sans"/>
              </a:rPr>
              <a:t>30</a:t>
            </a:r>
          </a:p>
        </p:txBody>
      </p:sp>
      <p:sp>
        <p:nvSpPr>
          <p:cNvPr id="35" name="TextBox 34"/>
          <p:cNvSpPr txBox="1"/>
          <p:nvPr/>
        </p:nvSpPr>
        <p:spPr>
          <a:xfrm>
            <a:off x="6457950" y="6217920"/>
            <a:ext cx="1828800" cy="320040"/>
          </a:xfrm>
          <a:prstGeom prst="rect">
            <a:avLst/>
          </a:prstGeom>
          <a:noFill/>
        </p:spPr>
        <p:txBody>
          <a:bodyPr wrap="square" lIns="0" rIns="0" tIns="0" bIns="0" anchor="t">
            <a:spAutoFit/>
          </a:bodyPr>
          <a:lstStyle/>
          <a:p>
            <a:pPr algn="ctr">
              <a:lnSpc>
                <a:spcPct val="115000"/>
              </a:lnSpc>
            </a:pPr>
            <a:r>
              <a:rPr sz="1200" b="1">
                <a:solidFill>
                  <a:srgbClr val="101410"/>
                </a:solidFill>
                <a:latin typeface="DM Sans"/>
              </a:rPr>
              <a:t>2024</a:t>
            </a:r>
          </a:p>
        </p:txBody>
      </p:sp>
      <p:sp>
        <p:nvSpPr>
          <p:cNvPr id="36" name="Rectangle 35"/>
          <p:cNvSpPr/>
          <p:nvPr/>
        </p:nvSpPr>
        <p:spPr>
          <a:xfrm>
            <a:off x="9224010" y="4160520"/>
            <a:ext cx="1463040" cy="201168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41130" y="3703320"/>
            <a:ext cx="1828800" cy="365760"/>
          </a:xfrm>
          <a:prstGeom prst="rect">
            <a:avLst/>
          </a:prstGeom>
          <a:noFill/>
        </p:spPr>
        <p:txBody>
          <a:bodyPr wrap="square" lIns="0" rIns="0" tIns="0" bIns="0" anchor="t">
            <a:spAutoFit/>
          </a:bodyPr>
          <a:lstStyle/>
          <a:p>
            <a:pPr algn="ctr">
              <a:lnSpc>
                <a:spcPct val="115000"/>
              </a:lnSpc>
            </a:pPr>
            <a:r>
              <a:rPr sz="1800" b="1">
                <a:solidFill>
                  <a:srgbClr val="006423"/>
                </a:solidFill>
                <a:latin typeface="DM Sans"/>
              </a:rPr>
              <a:t>50</a:t>
            </a:r>
          </a:p>
        </p:txBody>
      </p:sp>
      <p:sp>
        <p:nvSpPr>
          <p:cNvPr id="38" name="TextBox 37"/>
          <p:cNvSpPr txBox="1"/>
          <p:nvPr/>
        </p:nvSpPr>
        <p:spPr>
          <a:xfrm>
            <a:off x="9041130" y="6217920"/>
            <a:ext cx="1828800" cy="320040"/>
          </a:xfrm>
          <a:prstGeom prst="rect">
            <a:avLst/>
          </a:prstGeom>
          <a:noFill/>
        </p:spPr>
        <p:txBody>
          <a:bodyPr wrap="square" lIns="0" rIns="0" tIns="0" bIns="0" anchor="t">
            <a:spAutoFit/>
          </a:bodyPr>
          <a:lstStyle/>
          <a:p>
            <a:pPr algn="ctr">
              <a:lnSpc>
                <a:spcPct val="115000"/>
              </a:lnSpc>
            </a:pPr>
            <a:r>
              <a:rPr sz="1200" b="1">
                <a:solidFill>
                  <a:srgbClr val="101410"/>
                </a:solidFill>
                <a:latin typeface="DM Sans"/>
              </a:rPr>
              <a:t>2026</a:t>
            </a:r>
          </a:p>
        </p:txBody>
      </p:sp>
      <p:sp>
        <p:nvSpPr>
          <p:cNvPr id="39" name="Rectangle 38"/>
          <p:cNvSpPr/>
          <p:nvPr/>
        </p:nvSpPr>
        <p:spPr>
          <a:xfrm>
            <a:off x="0" y="6473952"/>
            <a:ext cx="12191695" cy="384048"/>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492240"/>
            <a:ext cx="7315200" cy="365760"/>
          </a:xfrm>
          <a:prstGeom prst="rect">
            <a:avLst/>
          </a:prstGeom>
          <a:noFill/>
        </p:spPr>
        <p:txBody>
          <a:bodyPr wrap="square" lIns="0" rIns="0" tIns="0" bIns="0" anchor="ctr">
            <a:spAutoFit/>
          </a:bodyPr>
          <a:lstStyle/>
          <a:p>
            <a:pPr algn="l">
              <a:lnSpc>
                <a:spcPct val="115000"/>
              </a:lnSpc>
            </a:pPr>
            <a:r>
              <a:rPr sz="900" b="1">
                <a:solidFill>
                  <a:srgbClr val="FFFFFF"/>
                </a:solidFill>
                <a:latin typeface="Noto Sans JP"/>
              </a:rPr>
              <a:t>WITHGREEN HISTORY  ／  創業者・武文智洋社長の言葉でたどる10年の歩み</a:t>
            </a:r>
          </a:p>
        </p:txBody>
      </p:sp>
      <p:sp>
        <p:nvSpPr>
          <p:cNvPr id="41" name="TextBox 40"/>
          <p:cNvSpPr txBox="1"/>
          <p:nvPr/>
        </p:nvSpPr>
        <p:spPr>
          <a:xfrm>
            <a:off x="10362895" y="6492240"/>
            <a:ext cx="1463040" cy="365760"/>
          </a:xfrm>
          <a:prstGeom prst="rect">
            <a:avLst/>
          </a:prstGeom>
          <a:noFill/>
        </p:spPr>
        <p:txBody>
          <a:bodyPr wrap="square" lIns="0" rIns="0" tIns="0" bIns="0" anchor="ctr">
            <a:spAutoFit/>
          </a:bodyPr>
          <a:lstStyle/>
          <a:p>
            <a:pPr algn="r">
              <a:lnSpc>
                <a:spcPct val="115000"/>
              </a:lnSpc>
            </a:pPr>
            <a:r>
              <a:rPr sz="900" b="1">
                <a:solidFill>
                  <a:srgbClr val="FFFFFF"/>
                </a:solidFill>
                <a:latin typeface="DM Sans"/>
              </a:rPr>
              <a:t>02 /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6400800" cy="256032"/>
          </a:xfrm>
          <a:prstGeom prst="rect">
            <a:avLst/>
          </a:prstGeom>
          <a:noFill/>
        </p:spPr>
        <p:txBody>
          <a:bodyPr wrap="square" lIns="0" rIns="0" tIns="0" bIns="0" anchor="ctr">
            <a:spAutoFit/>
          </a:bodyPr>
          <a:lstStyle/>
          <a:p>
            <a:pPr algn="l">
              <a:lnSpc>
                <a:spcPct val="115000"/>
              </a:lnSpc>
            </a:pPr>
            <a:r>
              <a:rPr sz="900" b="1">
                <a:solidFill>
                  <a:srgbClr val="006423"/>
                </a:solidFill>
                <a:latin typeface="DM Sans"/>
              </a:rPr>
              <a:t>CHAPTER 02  ／  ORIGIN  2008 - 2014</a:t>
            </a:r>
          </a:p>
        </p:txBody>
      </p:sp>
      <p:sp>
        <p:nvSpPr>
          <p:cNvPr id="5" name="TextBox 4"/>
          <p:cNvSpPr txBox="1"/>
          <p:nvPr/>
        </p:nvSpPr>
        <p:spPr>
          <a:xfrm>
            <a:off x="4419295" y="45720"/>
            <a:ext cx="7315200" cy="256032"/>
          </a:xfrm>
          <a:prstGeom prst="rect">
            <a:avLst/>
          </a:prstGeom>
          <a:noFill/>
        </p:spPr>
        <p:txBody>
          <a:bodyPr wrap="square" lIns="0" rIns="0" tIns="0" bIns="0" anchor="ctr">
            <a:spAutoFit/>
          </a:bodyPr>
          <a:lstStyle/>
          <a:p>
            <a:pPr algn="r">
              <a:lnSpc>
                <a:spcPct val="115000"/>
              </a:lnSpc>
            </a:pPr>
            <a:r>
              <a:rPr sz="900" b="1">
                <a:solidFill>
                  <a:srgbClr val="101410"/>
                </a:solidFill>
                <a:latin typeface="Noto Sans JP"/>
              </a:rPr>
              <a:t>原点 ─ ウォール街でサラダボウルに出会う</a:t>
            </a:r>
          </a:p>
        </p:txBody>
      </p:sp>
      <p:sp>
        <p:nvSpPr>
          <p:cNvPr id="6" name="TextBox 5"/>
          <p:cNvSpPr txBox="1"/>
          <p:nvPr/>
        </p:nvSpPr>
        <p:spPr>
          <a:xfrm>
            <a:off x="457200" y="594360"/>
            <a:ext cx="10972800" cy="640080"/>
          </a:xfrm>
          <a:prstGeom prst="rect">
            <a:avLst/>
          </a:prstGeom>
          <a:noFill/>
        </p:spPr>
        <p:txBody>
          <a:bodyPr wrap="square" lIns="0" rIns="0" tIns="0" bIns="0" anchor="t">
            <a:spAutoFit/>
          </a:bodyPr>
          <a:lstStyle/>
          <a:p>
            <a:pPr algn="l">
              <a:lnSpc>
                <a:spcPct val="115000"/>
              </a:lnSpc>
            </a:pPr>
            <a:r>
              <a:rPr sz="2600" b="1">
                <a:solidFill>
                  <a:srgbClr val="101410"/>
                </a:solidFill>
                <a:latin typeface="Noto Sans JP"/>
              </a:rPr>
              <a:t>「"食"でいこう」とひらめいた瞬間でした。</a:t>
            </a:r>
          </a:p>
        </p:txBody>
      </p:sp>
      <p:sp>
        <p:nvSpPr>
          <p:cNvPr id="7" name="Rectangle 6"/>
          <p:cNvSpPr/>
          <p:nvPr/>
        </p:nvSpPr>
        <p:spPr>
          <a:xfrm>
            <a:off x="457200" y="1554480"/>
            <a:ext cx="73152" cy="141732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554480"/>
            <a:ext cx="7607808" cy="141732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64208"/>
            <a:ext cx="7223760" cy="365760"/>
          </a:xfrm>
          <a:prstGeom prst="rect">
            <a:avLst/>
          </a:prstGeom>
          <a:noFill/>
        </p:spPr>
        <p:txBody>
          <a:bodyPr wrap="square" lIns="0" rIns="0" tIns="0" bIns="0" anchor="t">
            <a:spAutoFit/>
          </a:bodyPr>
          <a:lstStyle/>
          <a:p>
            <a:pPr algn="l">
              <a:lnSpc>
                <a:spcPct val="115000"/>
              </a:lnSpc>
            </a:pPr>
            <a:r>
              <a:rPr sz="1200" b="1">
                <a:solidFill>
                  <a:srgbClr val="006423"/>
                </a:solidFill>
                <a:latin typeface="Noto Sans JP"/>
              </a:rPr>
              <a:t>2008.09  リーマン・ショック</a:t>
            </a:r>
          </a:p>
        </p:txBody>
      </p:sp>
      <p:sp>
        <p:nvSpPr>
          <p:cNvPr id="10" name="TextBox 9"/>
          <p:cNvSpPr txBox="1"/>
          <p:nvPr/>
        </p:nvSpPr>
        <p:spPr>
          <a:xfrm>
            <a:off x="731520" y="2011680"/>
            <a:ext cx="7223760" cy="868680"/>
          </a:xfrm>
          <a:prstGeom prst="rect">
            <a:avLst/>
          </a:prstGeom>
          <a:noFill/>
        </p:spPr>
        <p:txBody>
          <a:bodyPr wrap="square" lIns="0" rIns="0" tIns="0" bIns="0" anchor="t">
            <a:spAutoFit/>
          </a:bodyPr>
          <a:lstStyle/>
          <a:p>
            <a:pPr algn="l">
              <a:lnSpc>
                <a:spcPct val="140000"/>
              </a:lnSpc>
            </a:pPr>
            <a:r>
              <a:rPr sz="1000" b="0">
                <a:solidFill>
                  <a:srgbClr val="101410"/>
                </a:solidFill>
                <a:latin typeface="Noto Sans JP"/>
              </a:rPr>
              <a:t>「内定先だったリーマン・ブラザーズが経営破綻したことをテレビのニュースで知り、頭が真っ白になり現実を受け止めきれず、その夜は倒れるように寝たのを憶えています。」</a:t>
            </a:r>
          </a:p>
        </p:txBody>
      </p:sp>
      <p:sp>
        <p:nvSpPr>
          <p:cNvPr id="11" name="Rectangle 10"/>
          <p:cNvSpPr/>
          <p:nvPr/>
        </p:nvSpPr>
        <p:spPr>
          <a:xfrm>
            <a:off x="457200" y="3081528"/>
            <a:ext cx="73152" cy="141732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3081528"/>
            <a:ext cx="7607808" cy="141732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91256"/>
            <a:ext cx="7223760" cy="365760"/>
          </a:xfrm>
          <a:prstGeom prst="rect">
            <a:avLst/>
          </a:prstGeom>
          <a:noFill/>
        </p:spPr>
        <p:txBody>
          <a:bodyPr wrap="square" lIns="0" rIns="0" tIns="0" bIns="0" anchor="t">
            <a:spAutoFit/>
          </a:bodyPr>
          <a:lstStyle/>
          <a:p>
            <a:pPr algn="l">
              <a:lnSpc>
                <a:spcPct val="115000"/>
              </a:lnSpc>
            </a:pPr>
            <a:r>
              <a:rPr sz="1200" b="1">
                <a:solidFill>
                  <a:srgbClr val="006423"/>
                </a:solidFill>
                <a:latin typeface="Noto Sans JP"/>
              </a:rPr>
              <a:t>2012  NY・ウォール街</a:t>
            </a:r>
          </a:p>
        </p:txBody>
      </p:sp>
      <p:sp>
        <p:nvSpPr>
          <p:cNvPr id="14" name="TextBox 13"/>
          <p:cNvSpPr txBox="1"/>
          <p:nvPr/>
        </p:nvSpPr>
        <p:spPr>
          <a:xfrm>
            <a:off x="731520" y="3538728"/>
            <a:ext cx="7223760" cy="868680"/>
          </a:xfrm>
          <a:prstGeom prst="rect">
            <a:avLst/>
          </a:prstGeom>
          <a:noFill/>
        </p:spPr>
        <p:txBody>
          <a:bodyPr wrap="square" lIns="0" rIns="0" tIns="0" bIns="0" anchor="t">
            <a:spAutoFit/>
          </a:bodyPr>
          <a:lstStyle/>
          <a:p>
            <a:pPr algn="l">
              <a:lnSpc>
                <a:spcPct val="140000"/>
              </a:lnSpc>
            </a:pPr>
            <a:r>
              <a:rPr sz="1000" b="0">
                <a:solidFill>
                  <a:srgbClr val="101410"/>
                </a:solidFill>
                <a:latin typeface="Noto Sans JP"/>
              </a:rPr>
              <a:t>「忙しく働く人たちが摂るウォール街でのランチは、肉や穀物がたくさん入った主菜として食べる「サラダボウル」が人気でした。当時の日本には、サラダがメインになる食文化はなく、周りの同僚が毎日食べているのを見てとても驚きました。」</a:t>
            </a:r>
          </a:p>
        </p:txBody>
      </p:sp>
      <p:sp>
        <p:nvSpPr>
          <p:cNvPr id="15" name="Rectangle 14"/>
          <p:cNvSpPr/>
          <p:nvPr/>
        </p:nvSpPr>
        <p:spPr>
          <a:xfrm>
            <a:off x="457200" y="4608576"/>
            <a:ext cx="73152" cy="141732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0352" y="4608576"/>
            <a:ext cx="7607808" cy="141732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718304"/>
            <a:ext cx="7223760" cy="365760"/>
          </a:xfrm>
          <a:prstGeom prst="rect">
            <a:avLst/>
          </a:prstGeom>
          <a:noFill/>
        </p:spPr>
        <p:txBody>
          <a:bodyPr wrap="square" lIns="0" rIns="0" tIns="0" bIns="0" anchor="t">
            <a:spAutoFit/>
          </a:bodyPr>
          <a:lstStyle/>
          <a:p>
            <a:pPr algn="l">
              <a:lnSpc>
                <a:spcPct val="115000"/>
              </a:lnSpc>
            </a:pPr>
            <a:r>
              <a:rPr sz="1200" b="1">
                <a:solidFill>
                  <a:srgbClr val="006423"/>
                </a:solidFill>
                <a:latin typeface="Noto Sans JP"/>
              </a:rPr>
              <a:t>2014  30歳で退職、共同創業を決意</a:t>
            </a:r>
          </a:p>
        </p:txBody>
      </p:sp>
      <p:sp>
        <p:nvSpPr>
          <p:cNvPr id="18" name="TextBox 17"/>
          <p:cNvSpPr txBox="1"/>
          <p:nvPr/>
        </p:nvSpPr>
        <p:spPr>
          <a:xfrm>
            <a:off x="731520" y="5065776"/>
            <a:ext cx="7223760" cy="868680"/>
          </a:xfrm>
          <a:prstGeom prst="rect">
            <a:avLst/>
          </a:prstGeom>
          <a:noFill/>
        </p:spPr>
        <p:txBody>
          <a:bodyPr wrap="square" lIns="0" rIns="0" tIns="0" bIns="0" anchor="t">
            <a:spAutoFit/>
          </a:bodyPr>
          <a:lstStyle/>
          <a:p>
            <a:pPr algn="l">
              <a:lnSpc>
                <a:spcPct val="140000"/>
              </a:lnSpc>
            </a:pPr>
            <a:r>
              <a:rPr sz="1000" b="0">
                <a:solidFill>
                  <a:srgbClr val="101410"/>
                </a:solidFill>
                <a:latin typeface="Noto Sans JP"/>
              </a:rPr>
              <a:t>「弟のバックグラウンドにすでに"食"があったことや、これまで自分がやってきたこと、考えてきたこと、未来へのイメージ・・・たくさんのピースがカチリと音を立てたのが聞こえました。「"食"でいこう」とひらめいた瞬間でした。」</a:t>
            </a:r>
          </a:p>
        </p:txBody>
      </p:sp>
      <p:pic>
        <p:nvPicPr>
          <p:cNvPr id="19" name="Picture 18" descr="salada-mushidori.png"/>
          <p:cNvPicPr>
            <a:picLocks noChangeAspect="1"/>
          </p:cNvPicPr>
          <p:nvPr/>
        </p:nvPicPr>
        <p:blipFill>
          <a:blip r:embed="rId2"/>
          <a:stretch>
            <a:fillRect/>
          </a:stretch>
        </p:blipFill>
        <p:spPr>
          <a:xfrm>
            <a:off x="8412480" y="1828800"/>
            <a:ext cx="3234423" cy="3291840"/>
          </a:xfrm>
          <a:prstGeom prst="rect">
            <a:avLst/>
          </a:prstGeom>
        </p:spPr>
      </p:pic>
      <p:sp>
        <p:nvSpPr>
          <p:cNvPr id="20" name="TextBox 19"/>
          <p:cNvSpPr txBox="1"/>
          <p:nvPr/>
        </p:nvSpPr>
        <p:spPr>
          <a:xfrm>
            <a:off x="8229600" y="5212080"/>
            <a:ext cx="3474720" cy="365760"/>
          </a:xfrm>
          <a:prstGeom prst="rect">
            <a:avLst/>
          </a:prstGeom>
          <a:noFill/>
        </p:spPr>
        <p:txBody>
          <a:bodyPr wrap="square" lIns="0" rIns="0" tIns="0" bIns="0" anchor="t">
            <a:spAutoFit/>
          </a:bodyPr>
          <a:lstStyle/>
          <a:p>
            <a:pPr algn="ctr">
              <a:lnSpc>
                <a:spcPct val="115000"/>
              </a:lnSpc>
            </a:pPr>
            <a:r>
              <a:rPr sz="1000" b="1">
                <a:solidFill>
                  <a:srgbClr val="006423"/>
                </a:solidFill>
                <a:latin typeface="DM Sans"/>
              </a:rPr>
              <a:t>STANDARD SALAD</a:t>
            </a:r>
          </a:p>
        </p:txBody>
      </p:sp>
      <p:sp>
        <p:nvSpPr>
          <p:cNvPr id="21" name="TextBox 20"/>
          <p:cNvSpPr txBox="1"/>
          <p:nvPr/>
        </p:nvSpPr>
        <p:spPr>
          <a:xfrm>
            <a:off x="8229600" y="5486400"/>
            <a:ext cx="3474720" cy="365760"/>
          </a:xfrm>
          <a:prstGeom prst="rect">
            <a:avLst/>
          </a:prstGeom>
          <a:noFill/>
        </p:spPr>
        <p:txBody>
          <a:bodyPr wrap="square" lIns="0" rIns="0" tIns="0" bIns="0" anchor="t">
            <a:spAutoFit/>
          </a:bodyPr>
          <a:lstStyle/>
          <a:p>
            <a:pPr algn="ctr">
              <a:lnSpc>
                <a:spcPct val="115000"/>
              </a:lnSpc>
            </a:pPr>
            <a:r>
              <a:rPr sz="1200" b="1">
                <a:solidFill>
                  <a:srgbClr val="101410"/>
                </a:solidFill>
                <a:latin typeface="Noto Sans JP"/>
              </a:rPr>
              <a:t>蒸し鶏のサラダボウル</a:t>
            </a:r>
          </a:p>
        </p:txBody>
      </p:sp>
      <p:sp>
        <p:nvSpPr>
          <p:cNvPr id="22" name="Rectangle 21"/>
          <p:cNvSpPr/>
          <p:nvPr/>
        </p:nvSpPr>
        <p:spPr>
          <a:xfrm>
            <a:off x="0" y="6473952"/>
            <a:ext cx="12191695" cy="384048"/>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492240"/>
            <a:ext cx="7315200" cy="365760"/>
          </a:xfrm>
          <a:prstGeom prst="rect">
            <a:avLst/>
          </a:prstGeom>
          <a:noFill/>
        </p:spPr>
        <p:txBody>
          <a:bodyPr wrap="square" lIns="0" rIns="0" tIns="0" bIns="0" anchor="ctr">
            <a:spAutoFit/>
          </a:bodyPr>
          <a:lstStyle/>
          <a:p>
            <a:pPr algn="l">
              <a:lnSpc>
                <a:spcPct val="115000"/>
              </a:lnSpc>
            </a:pPr>
            <a:r>
              <a:rPr sz="900" b="1">
                <a:solidFill>
                  <a:srgbClr val="FFFFFF"/>
                </a:solidFill>
                <a:latin typeface="Noto Sans JP"/>
              </a:rPr>
              <a:t>WITHGREEN HISTORY  ／  創業者・武文智洋社長の言葉でたどる10年の歩み</a:t>
            </a:r>
          </a:p>
        </p:txBody>
      </p:sp>
      <p:sp>
        <p:nvSpPr>
          <p:cNvPr id="24" name="TextBox 23"/>
          <p:cNvSpPr txBox="1"/>
          <p:nvPr/>
        </p:nvSpPr>
        <p:spPr>
          <a:xfrm>
            <a:off x="10362895" y="6492240"/>
            <a:ext cx="1463040" cy="365760"/>
          </a:xfrm>
          <a:prstGeom prst="rect">
            <a:avLst/>
          </a:prstGeom>
          <a:noFill/>
        </p:spPr>
        <p:txBody>
          <a:bodyPr wrap="square" lIns="0" rIns="0" tIns="0" bIns="0" anchor="ctr">
            <a:spAutoFit/>
          </a:bodyPr>
          <a:lstStyle/>
          <a:p>
            <a:pPr algn="r">
              <a:lnSpc>
                <a:spcPct val="115000"/>
              </a:lnSpc>
            </a:pPr>
            <a:r>
              <a:rPr sz="900" b="1">
                <a:solidFill>
                  <a:srgbClr val="FFFFFF"/>
                </a:solidFill>
                <a:latin typeface="DM Sans"/>
              </a:rPr>
              <a:t>03 / 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6400800" cy="256032"/>
          </a:xfrm>
          <a:prstGeom prst="rect">
            <a:avLst/>
          </a:prstGeom>
          <a:noFill/>
        </p:spPr>
        <p:txBody>
          <a:bodyPr wrap="square" lIns="0" rIns="0" tIns="0" bIns="0" anchor="ctr">
            <a:spAutoFit/>
          </a:bodyPr>
          <a:lstStyle/>
          <a:p>
            <a:pPr algn="l">
              <a:lnSpc>
                <a:spcPct val="115000"/>
              </a:lnSpc>
            </a:pPr>
            <a:r>
              <a:rPr sz="900" b="1">
                <a:solidFill>
                  <a:srgbClr val="006423"/>
                </a:solidFill>
                <a:latin typeface="DM Sans"/>
              </a:rPr>
              <a:t>CHAPTER 03  ／  FOUNDING  2015 - 2016</a:t>
            </a:r>
          </a:p>
        </p:txBody>
      </p:sp>
      <p:sp>
        <p:nvSpPr>
          <p:cNvPr id="5" name="TextBox 4"/>
          <p:cNvSpPr txBox="1"/>
          <p:nvPr/>
        </p:nvSpPr>
        <p:spPr>
          <a:xfrm>
            <a:off x="4419295" y="45720"/>
            <a:ext cx="7315200" cy="256032"/>
          </a:xfrm>
          <a:prstGeom prst="rect">
            <a:avLst/>
          </a:prstGeom>
          <a:noFill/>
        </p:spPr>
        <p:txBody>
          <a:bodyPr wrap="square" lIns="0" rIns="0" tIns="0" bIns="0" anchor="ctr">
            <a:spAutoFit/>
          </a:bodyPr>
          <a:lstStyle/>
          <a:p>
            <a:pPr algn="r">
              <a:lnSpc>
                <a:spcPct val="115000"/>
              </a:lnSpc>
            </a:pPr>
            <a:r>
              <a:rPr sz="900" b="1">
                <a:solidFill>
                  <a:srgbClr val="101410"/>
                </a:solidFill>
                <a:latin typeface="Noto Sans JP"/>
              </a:rPr>
              <a:t>創業 ─ 神楽坂で1号店オープン</a:t>
            </a:r>
          </a:p>
        </p:txBody>
      </p:sp>
      <p:sp>
        <p:nvSpPr>
          <p:cNvPr id="6" name="TextBox 5"/>
          <p:cNvSpPr txBox="1"/>
          <p:nvPr/>
        </p:nvSpPr>
        <p:spPr>
          <a:xfrm>
            <a:off x="457200" y="594360"/>
            <a:ext cx="10972800" cy="640080"/>
          </a:xfrm>
          <a:prstGeom prst="rect">
            <a:avLst/>
          </a:prstGeom>
          <a:noFill/>
        </p:spPr>
        <p:txBody>
          <a:bodyPr wrap="square" lIns="0" rIns="0" tIns="0" bIns="0" anchor="t">
            <a:spAutoFit/>
          </a:bodyPr>
          <a:lstStyle/>
          <a:p>
            <a:pPr algn="l">
              <a:lnSpc>
                <a:spcPct val="115000"/>
              </a:lnSpc>
            </a:pPr>
            <a:r>
              <a:rPr sz="2200" b="1">
                <a:solidFill>
                  <a:srgbClr val="101410"/>
                </a:solidFill>
                <a:latin typeface="Noto Sans JP"/>
              </a:rPr>
              <a:t>「生産者と消費者をつなぐ」サラダボウル専門店、誕生。</a:t>
            </a:r>
          </a:p>
        </p:txBody>
      </p:sp>
      <p:sp>
        <p:nvSpPr>
          <p:cNvPr id="7" name="Rectangle 6"/>
          <p:cNvSpPr/>
          <p:nvPr/>
        </p:nvSpPr>
        <p:spPr>
          <a:xfrm>
            <a:off x="457200" y="1554480"/>
            <a:ext cx="91440" cy="420624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6766560" cy="420624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28800"/>
            <a:ext cx="2286000" cy="365760"/>
          </a:xfrm>
          <a:prstGeom prst="rect">
            <a:avLst/>
          </a:prstGeom>
          <a:noFill/>
        </p:spPr>
        <p:txBody>
          <a:bodyPr wrap="square" lIns="0" rIns="0" tIns="0" bIns="0" anchor="t">
            <a:spAutoFit/>
          </a:bodyPr>
          <a:lstStyle/>
          <a:p>
            <a:pPr algn="l">
              <a:lnSpc>
                <a:spcPct val="115000"/>
              </a:lnSpc>
            </a:pPr>
            <a:r>
              <a:rPr sz="1100" b="1">
                <a:solidFill>
                  <a:srgbClr val="006423"/>
                </a:solidFill>
                <a:latin typeface="Noto Sans JP"/>
              </a:rPr>
              <a:t>2015 ─ 200日・30カ国の世界一周</a:t>
            </a:r>
          </a:p>
        </p:txBody>
      </p:sp>
      <p:sp>
        <p:nvSpPr>
          <p:cNvPr id="10" name="TextBox 9"/>
          <p:cNvSpPr txBox="1"/>
          <p:nvPr/>
        </p:nvSpPr>
        <p:spPr>
          <a:xfrm>
            <a:off x="868680" y="2194560"/>
            <a:ext cx="6217920" cy="1554480"/>
          </a:xfrm>
          <a:prstGeom prst="rect">
            <a:avLst/>
          </a:prstGeom>
          <a:noFill/>
        </p:spPr>
        <p:txBody>
          <a:bodyPr wrap="square" lIns="0" rIns="0" tIns="0" bIns="0" anchor="t">
            <a:spAutoFit/>
          </a:bodyPr>
          <a:lstStyle/>
          <a:p>
            <a:pPr algn="l">
              <a:lnSpc>
                <a:spcPct val="150000"/>
              </a:lnSpc>
            </a:pPr>
            <a:r>
              <a:rPr sz="1100" b="0">
                <a:solidFill>
                  <a:srgbClr val="101410"/>
                </a:solidFill>
                <a:latin typeface="Noto Sans JP"/>
              </a:rPr>
              <a:t>「日本の良さは、肉・魚・野菜と食材が豊富にあること、料理のアレンジ力もずば抜けて高く、おいしくてコスパがいいこと、四方を海に囲まれ、山や川があり、四季があり、圧倒的な地理の利があります。日本の食文化の豊かさは、世界の中でも稀有です。」</a:t>
            </a:r>
          </a:p>
        </p:txBody>
      </p:sp>
      <p:sp>
        <p:nvSpPr>
          <p:cNvPr id="11" name="TextBox 10"/>
          <p:cNvSpPr txBox="1"/>
          <p:nvPr/>
        </p:nvSpPr>
        <p:spPr>
          <a:xfrm>
            <a:off x="868680" y="3840480"/>
            <a:ext cx="3657600" cy="365760"/>
          </a:xfrm>
          <a:prstGeom prst="rect">
            <a:avLst/>
          </a:prstGeom>
          <a:noFill/>
        </p:spPr>
        <p:txBody>
          <a:bodyPr wrap="square" lIns="0" rIns="0" tIns="0" bIns="0" anchor="t">
            <a:spAutoFit/>
          </a:bodyPr>
          <a:lstStyle/>
          <a:p>
            <a:pPr algn="l">
              <a:lnSpc>
                <a:spcPct val="115000"/>
              </a:lnSpc>
            </a:pPr>
            <a:r>
              <a:rPr sz="1100" b="1">
                <a:solidFill>
                  <a:srgbClr val="006423"/>
                </a:solidFill>
                <a:latin typeface="Noto Sans JP"/>
              </a:rPr>
              <a:t>2016.05 ─ 神楽坂で1号店オープン</a:t>
            </a:r>
          </a:p>
        </p:txBody>
      </p:sp>
      <p:sp>
        <p:nvSpPr>
          <p:cNvPr id="12" name="TextBox 11"/>
          <p:cNvSpPr txBox="1"/>
          <p:nvPr/>
        </p:nvSpPr>
        <p:spPr>
          <a:xfrm>
            <a:off x="868680" y="4206240"/>
            <a:ext cx="6217920" cy="1463040"/>
          </a:xfrm>
          <a:prstGeom prst="rect">
            <a:avLst/>
          </a:prstGeom>
          <a:noFill/>
        </p:spPr>
        <p:txBody>
          <a:bodyPr wrap="square" lIns="0" rIns="0" tIns="0" bIns="0" anchor="t">
            <a:spAutoFit/>
          </a:bodyPr>
          <a:lstStyle/>
          <a:p>
            <a:pPr algn="l">
              <a:lnSpc>
                <a:spcPct val="150000"/>
              </a:lnSpc>
            </a:pPr>
            <a:r>
              <a:rPr sz="1100" b="0">
                <a:solidFill>
                  <a:srgbClr val="101410"/>
                </a:solidFill>
                <a:latin typeface="Noto Sans JP"/>
              </a:rPr>
              <a:t>「アメリカやヨーロッパのサラダ文化をそのまま持ってくるのではなく、『国内の生産者や季節感を大切にするサラダボウル専門店でありたい』という想いで創業しました。だからこそ、創業から大切にしている国産野菜100%の使用を、自然災害などの特殊な事情がない限り、続けていきます。」</a:t>
            </a:r>
          </a:p>
        </p:txBody>
      </p:sp>
      <p:pic>
        <p:nvPicPr>
          <p:cNvPr id="13" name="Picture 12" descr="hero-salad.jpg"/>
          <p:cNvPicPr>
            <a:picLocks noChangeAspect="1"/>
          </p:cNvPicPr>
          <p:nvPr/>
        </p:nvPicPr>
        <p:blipFill>
          <a:blip r:embed="rId2"/>
          <a:stretch>
            <a:fillRect/>
          </a:stretch>
        </p:blipFill>
        <p:spPr>
          <a:xfrm>
            <a:off x="7680960" y="1554480"/>
            <a:ext cx="4114800" cy="2560320"/>
          </a:xfrm>
          <a:prstGeom prst="rect">
            <a:avLst/>
          </a:prstGeom>
        </p:spPr>
      </p:pic>
      <p:pic>
        <p:nvPicPr>
          <p:cNvPr id="14" name="Picture 13" descr="store_jpg.jpg"/>
          <p:cNvPicPr>
            <a:picLocks noChangeAspect="1"/>
          </p:cNvPicPr>
          <p:nvPr/>
        </p:nvPicPr>
        <p:blipFill>
          <a:blip r:embed="rId3"/>
          <a:stretch>
            <a:fillRect/>
          </a:stretch>
        </p:blipFill>
        <p:spPr>
          <a:xfrm>
            <a:off x="7680960" y="4206240"/>
            <a:ext cx="1965960" cy="1554480"/>
          </a:xfrm>
          <a:prstGeom prst="rect">
            <a:avLst/>
          </a:prstGeom>
        </p:spPr>
      </p:pic>
      <p:pic>
        <p:nvPicPr>
          <p:cNvPr id="15" name="Picture 14" descr="salada-roastpork.png"/>
          <p:cNvPicPr>
            <a:picLocks noChangeAspect="1"/>
          </p:cNvPicPr>
          <p:nvPr/>
        </p:nvPicPr>
        <p:blipFill>
          <a:blip r:embed="rId4"/>
          <a:stretch>
            <a:fillRect/>
          </a:stretch>
        </p:blipFill>
        <p:spPr>
          <a:xfrm>
            <a:off x="9784080" y="4160520"/>
            <a:ext cx="2011680" cy="1645920"/>
          </a:xfrm>
          <a:prstGeom prst="rect">
            <a:avLst/>
          </a:prstGeom>
        </p:spPr>
      </p:pic>
      <p:sp>
        <p:nvSpPr>
          <p:cNvPr id="16" name="Rectangle 15"/>
          <p:cNvSpPr/>
          <p:nvPr/>
        </p:nvSpPr>
        <p:spPr>
          <a:xfrm>
            <a:off x="0" y="6473952"/>
            <a:ext cx="12191695" cy="384048"/>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6492240"/>
            <a:ext cx="7315200" cy="365760"/>
          </a:xfrm>
          <a:prstGeom prst="rect">
            <a:avLst/>
          </a:prstGeom>
          <a:noFill/>
        </p:spPr>
        <p:txBody>
          <a:bodyPr wrap="square" lIns="0" rIns="0" tIns="0" bIns="0" anchor="ctr">
            <a:spAutoFit/>
          </a:bodyPr>
          <a:lstStyle/>
          <a:p>
            <a:pPr algn="l">
              <a:lnSpc>
                <a:spcPct val="115000"/>
              </a:lnSpc>
            </a:pPr>
            <a:r>
              <a:rPr sz="900" b="1">
                <a:solidFill>
                  <a:srgbClr val="FFFFFF"/>
                </a:solidFill>
                <a:latin typeface="Noto Sans JP"/>
              </a:rPr>
              <a:t>WITHGREEN HISTORY  ／  創業者・武文智洋社長の言葉でたどる10年の歩み</a:t>
            </a:r>
          </a:p>
        </p:txBody>
      </p:sp>
      <p:sp>
        <p:nvSpPr>
          <p:cNvPr id="18" name="TextBox 17"/>
          <p:cNvSpPr txBox="1"/>
          <p:nvPr/>
        </p:nvSpPr>
        <p:spPr>
          <a:xfrm>
            <a:off x="10362895" y="6492240"/>
            <a:ext cx="1463040" cy="365760"/>
          </a:xfrm>
          <a:prstGeom prst="rect">
            <a:avLst/>
          </a:prstGeom>
          <a:noFill/>
        </p:spPr>
        <p:txBody>
          <a:bodyPr wrap="square" lIns="0" rIns="0" tIns="0" bIns="0" anchor="ctr">
            <a:spAutoFit/>
          </a:bodyPr>
          <a:lstStyle/>
          <a:p>
            <a:pPr algn="r">
              <a:lnSpc>
                <a:spcPct val="115000"/>
              </a:lnSpc>
            </a:pPr>
            <a:r>
              <a:rPr sz="900" b="1">
                <a:solidFill>
                  <a:srgbClr val="FFFFFF"/>
                </a:solidFill>
                <a:latin typeface="DM Sans"/>
              </a:rPr>
              <a:t>04 /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
            <a:ext cx="6400800" cy="256032"/>
          </a:xfrm>
          <a:prstGeom prst="rect">
            <a:avLst/>
          </a:prstGeom>
          <a:noFill/>
        </p:spPr>
        <p:txBody>
          <a:bodyPr wrap="square" lIns="0" rIns="0" tIns="0" bIns="0" anchor="ctr">
            <a:spAutoFit/>
          </a:bodyPr>
          <a:lstStyle/>
          <a:p>
            <a:pPr algn="l">
              <a:lnSpc>
                <a:spcPct val="115000"/>
              </a:lnSpc>
            </a:pPr>
            <a:r>
              <a:rPr sz="900" b="1">
                <a:solidFill>
                  <a:srgbClr val="006423"/>
                </a:solidFill>
                <a:latin typeface="DM Sans"/>
              </a:rPr>
              <a:t>CHAPTER 04  ／  GROWTH  2023 - 2026</a:t>
            </a:r>
          </a:p>
        </p:txBody>
      </p:sp>
      <p:sp>
        <p:nvSpPr>
          <p:cNvPr id="5" name="TextBox 4"/>
          <p:cNvSpPr txBox="1"/>
          <p:nvPr/>
        </p:nvSpPr>
        <p:spPr>
          <a:xfrm>
            <a:off x="4419295" y="45720"/>
            <a:ext cx="7315200" cy="256032"/>
          </a:xfrm>
          <a:prstGeom prst="rect">
            <a:avLst/>
          </a:prstGeom>
          <a:noFill/>
        </p:spPr>
        <p:txBody>
          <a:bodyPr wrap="square" lIns="0" rIns="0" tIns="0" bIns="0" anchor="ctr">
            <a:spAutoFit/>
          </a:bodyPr>
          <a:lstStyle/>
          <a:p>
            <a:pPr algn="r">
              <a:lnSpc>
                <a:spcPct val="115000"/>
              </a:lnSpc>
            </a:pPr>
            <a:r>
              <a:rPr sz="900" b="1">
                <a:solidFill>
                  <a:srgbClr val="101410"/>
                </a:solidFill>
                <a:latin typeface="Noto Sans JP"/>
              </a:rPr>
              <a:t>成長 ─ 17店舗から50店舗へ</a:t>
            </a:r>
          </a:p>
        </p:txBody>
      </p:sp>
      <p:sp>
        <p:nvSpPr>
          <p:cNvPr id="6" name="TextBox 5"/>
          <p:cNvSpPr txBox="1"/>
          <p:nvPr/>
        </p:nvSpPr>
        <p:spPr>
          <a:xfrm>
            <a:off x="457200" y="594360"/>
            <a:ext cx="10972800" cy="640080"/>
          </a:xfrm>
          <a:prstGeom prst="rect">
            <a:avLst/>
          </a:prstGeom>
          <a:noFill/>
        </p:spPr>
        <p:txBody>
          <a:bodyPr wrap="square" lIns="0" rIns="0" tIns="0" bIns="0" anchor="t">
            <a:spAutoFit/>
          </a:bodyPr>
          <a:lstStyle/>
          <a:p>
            <a:pPr algn="l">
              <a:lnSpc>
                <a:spcPct val="115000"/>
              </a:lnSpc>
            </a:pPr>
            <a:r>
              <a:rPr sz="2000" b="1">
                <a:solidFill>
                  <a:srgbClr val="101410"/>
                </a:solidFill>
                <a:latin typeface="Noto Sans JP"/>
              </a:rPr>
              <a:t>「日々の選択肢に『サラダボウル』がある未来を創造していきたい。」</a:t>
            </a:r>
          </a:p>
        </p:txBody>
      </p:sp>
      <p:sp>
        <p:nvSpPr>
          <p:cNvPr id="7" name="Rectangle 6"/>
          <p:cNvSpPr/>
          <p:nvPr/>
        </p:nvSpPr>
        <p:spPr>
          <a:xfrm>
            <a:off x="457200" y="1828800"/>
            <a:ext cx="6858000" cy="347472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11680"/>
            <a:ext cx="6400800" cy="365760"/>
          </a:xfrm>
          <a:prstGeom prst="rect">
            <a:avLst/>
          </a:prstGeom>
          <a:noFill/>
        </p:spPr>
        <p:txBody>
          <a:bodyPr wrap="square" lIns="0" rIns="0" tIns="0" bIns="0" anchor="t">
            <a:spAutoFit/>
          </a:bodyPr>
          <a:lstStyle/>
          <a:p>
            <a:pPr algn="l">
              <a:lnSpc>
                <a:spcPct val="115000"/>
              </a:lnSpc>
            </a:pPr>
            <a:r>
              <a:rPr sz="1200" b="1">
                <a:solidFill>
                  <a:srgbClr val="101410"/>
                </a:solidFill>
                <a:latin typeface="Noto Sans JP"/>
              </a:rPr>
              <a:t>店舗数の推移</a:t>
            </a:r>
          </a:p>
        </p:txBody>
      </p:sp>
      <p:sp>
        <p:nvSpPr>
          <p:cNvPr id="9" name="Rectangle 8"/>
          <p:cNvSpPr/>
          <p:nvPr/>
        </p:nvSpPr>
        <p:spPr>
          <a:xfrm>
            <a:off x="914400" y="4754880"/>
            <a:ext cx="5943600" cy="9525"/>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45870" y="4710988"/>
            <a:ext cx="822960" cy="43891"/>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1550" y="4299508"/>
            <a:ext cx="1371600" cy="365760"/>
          </a:xfrm>
          <a:prstGeom prst="rect">
            <a:avLst/>
          </a:prstGeom>
          <a:noFill/>
        </p:spPr>
        <p:txBody>
          <a:bodyPr wrap="square" lIns="0" rIns="0" tIns="0" bIns="0" anchor="t">
            <a:spAutoFit/>
          </a:bodyPr>
          <a:lstStyle/>
          <a:p>
            <a:pPr algn="ctr">
              <a:lnSpc>
                <a:spcPct val="115000"/>
              </a:lnSpc>
            </a:pPr>
            <a:r>
              <a:rPr sz="1400" b="1">
                <a:solidFill>
                  <a:srgbClr val="006423"/>
                </a:solidFill>
                <a:latin typeface="DM Sans"/>
              </a:rPr>
              <a:t>1</a:t>
            </a:r>
          </a:p>
        </p:txBody>
      </p:sp>
      <p:sp>
        <p:nvSpPr>
          <p:cNvPr id="12" name="TextBox 11"/>
          <p:cNvSpPr txBox="1"/>
          <p:nvPr/>
        </p:nvSpPr>
        <p:spPr>
          <a:xfrm>
            <a:off x="971550" y="4800600"/>
            <a:ext cx="1371600" cy="274320"/>
          </a:xfrm>
          <a:prstGeom prst="rect">
            <a:avLst/>
          </a:prstGeom>
          <a:noFill/>
        </p:spPr>
        <p:txBody>
          <a:bodyPr wrap="square" lIns="0" rIns="0" tIns="0" bIns="0" anchor="t">
            <a:spAutoFit/>
          </a:bodyPr>
          <a:lstStyle/>
          <a:p>
            <a:pPr algn="ctr">
              <a:lnSpc>
                <a:spcPct val="115000"/>
              </a:lnSpc>
            </a:pPr>
            <a:r>
              <a:rPr sz="1000" b="1">
                <a:solidFill>
                  <a:srgbClr val="101410"/>
                </a:solidFill>
                <a:latin typeface="DM Sans"/>
              </a:rPr>
              <a:t>2016</a:t>
            </a:r>
          </a:p>
        </p:txBody>
      </p:sp>
      <p:sp>
        <p:nvSpPr>
          <p:cNvPr id="13" name="Rectangle 12"/>
          <p:cNvSpPr/>
          <p:nvPr/>
        </p:nvSpPr>
        <p:spPr>
          <a:xfrm>
            <a:off x="2731770" y="4008729"/>
            <a:ext cx="822960" cy="74615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7450" y="3597249"/>
            <a:ext cx="1371600" cy="365760"/>
          </a:xfrm>
          <a:prstGeom prst="rect">
            <a:avLst/>
          </a:prstGeom>
          <a:noFill/>
        </p:spPr>
        <p:txBody>
          <a:bodyPr wrap="square" lIns="0" rIns="0" tIns="0" bIns="0" anchor="t">
            <a:spAutoFit/>
          </a:bodyPr>
          <a:lstStyle/>
          <a:p>
            <a:pPr algn="ctr">
              <a:lnSpc>
                <a:spcPct val="115000"/>
              </a:lnSpc>
            </a:pPr>
            <a:r>
              <a:rPr sz="1400" b="1">
                <a:solidFill>
                  <a:srgbClr val="006423"/>
                </a:solidFill>
                <a:latin typeface="DM Sans"/>
              </a:rPr>
              <a:t>17</a:t>
            </a:r>
          </a:p>
        </p:txBody>
      </p:sp>
      <p:sp>
        <p:nvSpPr>
          <p:cNvPr id="15" name="TextBox 14"/>
          <p:cNvSpPr txBox="1"/>
          <p:nvPr/>
        </p:nvSpPr>
        <p:spPr>
          <a:xfrm>
            <a:off x="2457450" y="4800600"/>
            <a:ext cx="1371600" cy="274320"/>
          </a:xfrm>
          <a:prstGeom prst="rect">
            <a:avLst/>
          </a:prstGeom>
          <a:noFill/>
        </p:spPr>
        <p:txBody>
          <a:bodyPr wrap="square" lIns="0" rIns="0" tIns="0" bIns="0" anchor="t">
            <a:spAutoFit/>
          </a:bodyPr>
          <a:lstStyle/>
          <a:p>
            <a:pPr algn="ctr">
              <a:lnSpc>
                <a:spcPct val="115000"/>
              </a:lnSpc>
            </a:pPr>
            <a:r>
              <a:rPr sz="1000" b="1">
                <a:solidFill>
                  <a:srgbClr val="101410"/>
                </a:solidFill>
                <a:latin typeface="DM Sans"/>
              </a:rPr>
              <a:t>2023</a:t>
            </a:r>
          </a:p>
        </p:txBody>
      </p:sp>
      <p:sp>
        <p:nvSpPr>
          <p:cNvPr id="16" name="Rectangle 15"/>
          <p:cNvSpPr/>
          <p:nvPr/>
        </p:nvSpPr>
        <p:spPr>
          <a:xfrm>
            <a:off x="4217670" y="3438144"/>
            <a:ext cx="822960" cy="1316736"/>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3350" y="3026664"/>
            <a:ext cx="1371600" cy="365760"/>
          </a:xfrm>
          <a:prstGeom prst="rect">
            <a:avLst/>
          </a:prstGeom>
          <a:noFill/>
        </p:spPr>
        <p:txBody>
          <a:bodyPr wrap="square" lIns="0" rIns="0" tIns="0" bIns="0" anchor="t">
            <a:spAutoFit/>
          </a:bodyPr>
          <a:lstStyle/>
          <a:p>
            <a:pPr algn="ctr">
              <a:lnSpc>
                <a:spcPct val="115000"/>
              </a:lnSpc>
            </a:pPr>
            <a:r>
              <a:rPr sz="1400" b="1">
                <a:solidFill>
                  <a:srgbClr val="006423"/>
                </a:solidFill>
                <a:latin typeface="DM Sans"/>
              </a:rPr>
              <a:t>30</a:t>
            </a:r>
          </a:p>
        </p:txBody>
      </p:sp>
      <p:sp>
        <p:nvSpPr>
          <p:cNvPr id="18" name="TextBox 17"/>
          <p:cNvSpPr txBox="1"/>
          <p:nvPr/>
        </p:nvSpPr>
        <p:spPr>
          <a:xfrm>
            <a:off x="3943350" y="4800600"/>
            <a:ext cx="1371600" cy="274320"/>
          </a:xfrm>
          <a:prstGeom prst="rect">
            <a:avLst/>
          </a:prstGeom>
          <a:noFill/>
        </p:spPr>
        <p:txBody>
          <a:bodyPr wrap="square" lIns="0" rIns="0" tIns="0" bIns="0" anchor="t">
            <a:spAutoFit/>
          </a:bodyPr>
          <a:lstStyle/>
          <a:p>
            <a:pPr algn="ctr">
              <a:lnSpc>
                <a:spcPct val="115000"/>
              </a:lnSpc>
            </a:pPr>
            <a:r>
              <a:rPr sz="1000" b="1">
                <a:solidFill>
                  <a:srgbClr val="101410"/>
                </a:solidFill>
                <a:latin typeface="DM Sans"/>
              </a:rPr>
              <a:t>2024</a:t>
            </a:r>
          </a:p>
        </p:txBody>
      </p:sp>
      <p:sp>
        <p:nvSpPr>
          <p:cNvPr id="19" name="Rectangle 18"/>
          <p:cNvSpPr/>
          <p:nvPr/>
        </p:nvSpPr>
        <p:spPr>
          <a:xfrm>
            <a:off x="5703570" y="2560320"/>
            <a:ext cx="822960" cy="219456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29250" y="2148840"/>
            <a:ext cx="1371600" cy="365760"/>
          </a:xfrm>
          <a:prstGeom prst="rect">
            <a:avLst/>
          </a:prstGeom>
          <a:noFill/>
        </p:spPr>
        <p:txBody>
          <a:bodyPr wrap="square" lIns="0" rIns="0" tIns="0" bIns="0" anchor="t">
            <a:spAutoFit/>
          </a:bodyPr>
          <a:lstStyle/>
          <a:p>
            <a:pPr algn="ctr">
              <a:lnSpc>
                <a:spcPct val="115000"/>
              </a:lnSpc>
            </a:pPr>
            <a:r>
              <a:rPr sz="1400" b="1">
                <a:solidFill>
                  <a:srgbClr val="006423"/>
                </a:solidFill>
                <a:latin typeface="DM Sans"/>
              </a:rPr>
              <a:t>50</a:t>
            </a:r>
          </a:p>
        </p:txBody>
      </p:sp>
      <p:sp>
        <p:nvSpPr>
          <p:cNvPr id="21" name="TextBox 20"/>
          <p:cNvSpPr txBox="1"/>
          <p:nvPr/>
        </p:nvSpPr>
        <p:spPr>
          <a:xfrm>
            <a:off x="5429250" y="4800600"/>
            <a:ext cx="1371600" cy="274320"/>
          </a:xfrm>
          <a:prstGeom prst="rect">
            <a:avLst/>
          </a:prstGeom>
          <a:noFill/>
        </p:spPr>
        <p:txBody>
          <a:bodyPr wrap="square" lIns="0" rIns="0" tIns="0" bIns="0" anchor="t">
            <a:spAutoFit/>
          </a:bodyPr>
          <a:lstStyle/>
          <a:p>
            <a:pPr algn="ctr">
              <a:lnSpc>
                <a:spcPct val="115000"/>
              </a:lnSpc>
            </a:pPr>
            <a:r>
              <a:rPr sz="1000" b="1">
                <a:solidFill>
                  <a:srgbClr val="101410"/>
                </a:solidFill>
                <a:latin typeface="DM Sans"/>
              </a:rPr>
              <a:t>2026</a:t>
            </a:r>
          </a:p>
        </p:txBody>
      </p:sp>
      <p:sp>
        <p:nvSpPr>
          <p:cNvPr id="22" name="Rectangle 21"/>
          <p:cNvSpPr/>
          <p:nvPr/>
        </p:nvSpPr>
        <p:spPr>
          <a:xfrm>
            <a:off x="7680960" y="1828800"/>
            <a:ext cx="73152" cy="169164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54112" y="1828800"/>
            <a:ext cx="4041648" cy="169164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9560" y="1938528"/>
            <a:ext cx="3749040" cy="365760"/>
          </a:xfrm>
          <a:prstGeom prst="rect">
            <a:avLst/>
          </a:prstGeom>
          <a:noFill/>
        </p:spPr>
        <p:txBody>
          <a:bodyPr wrap="square" lIns="0" rIns="0" tIns="0" bIns="0" anchor="t">
            <a:spAutoFit/>
          </a:bodyPr>
          <a:lstStyle/>
          <a:p>
            <a:pPr algn="l">
              <a:lnSpc>
                <a:spcPct val="115000"/>
              </a:lnSpc>
            </a:pPr>
            <a:r>
              <a:rPr sz="1100" b="1">
                <a:solidFill>
                  <a:srgbClr val="006423"/>
                </a:solidFill>
                <a:latin typeface="Noto Sans JP"/>
              </a:rPr>
              <a:t>2023  ビジョン</a:t>
            </a:r>
          </a:p>
        </p:txBody>
      </p:sp>
      <p:sp>
        <p:nvSpPr>
          <p:cNvPr id="25" name="TextBox 24"/>
          <p:cNvSpPr txBox="1"/>
          <p:nvPr/>
        </p:nvSpPr>
        <p:spPr>
          <a:xfrm>
            <a:off x="7909560" y="2286000"/>
            <a:ext cx="3749040" cy="1188720"/>
          </a:xfrm>
          <a:prstGeom prst="rect">
            <a:avLst/>
          </a:prstGeom>
          <a:noFill/>
        </p:spPr>
        <p:txBody>
          <a:bodyPr wrap="square" lIns="0" rIns="0" tIns="0" bIns="0" anchor="t">
            <a:spAutoFit/>
          </a:bodyPr>
          <a:lstStyle/>
          <a:p>
            <a:pPr algn="l">
              <a:lnSpc>
                <a:spcPct val="150000"/>
              </a:lnSpc>
            </a:pPr>
            <a:r>
              <a:rPr sz="1000" b="0">
                <a:solidFill>
                  <a:srgbClr val="101410"/>
                </a:solidFill>
                <a:latin typeface="Noto Sans JP"/>
              </a:rPr>
              <a:t>「５年後には30〜50店舗に拡大し、日々の選択肢に『サラダボウル』がある未来を創造していきたい。」</a:t>
            </a:r>
          </a:p>
        </p:txBody>
      </p:sp>
      <p:sp>
        <p:nvSpPr>
          <p:cNvPr id="26" name="Rectangle 25"/>
          <p:cNvSpPr/>
          <p:nvPr/>
        </p:nvSpPr>
        <p:spPr>
          <a:xfrm>
            <a:off x="7680960" y="3657600"/>
            <a:ext cx="73152" cy="169164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54112" y="3657600"/>
            <a:ext cx="4041648" cy="1691640"/>
          </a:xfrm>
          <a:prstGeom prst="rect">
            <a:avLst/>
          </a:prstGeom>
          <a:solidFill>
            <a:srgbClr val="F4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9560" y="3767328"/>
            <a:ext cx="3749040" cy="365760"/>
          </a:xfrm>
          <a:prstGeom prst="rect">
            <a:avLst/>
          </a:prstGeom>
          <a:noFill/>
        </p:spPr>
        <p:txBody>
          <a:bodyPr wrap="square" lIns="0" rIns="0" tIns="0" bIns="0" anchor="t">
            <a:spAutoFit/>
          </a:bodyPr>
          <a:lstStyle/>
          <a:p>
            <a:pPr algn="l">
              <a:lnSpc>
                <a:spcPct val="115000"/>
              </a:lnSpc>
            </a:pPr>
            <a:r>
              <a:rPr sz="1100" b="1">
                <a:solidFill>
                  <a:srgbClr val="006423"/>
                </a:solidFill>
                <a:latin typeface="Noto Sans JP"/>
              </a:rPr>
              <a:t>2026.03.14  創業10年・50店舗達成</a:t>
            </a:r>
          </a:p>
        </p:txBody>
      </p:sp>
      <p:sp>
        <p:nvSpPr>
          <p:cNvPr id="29" name="TextBox 28"/>
          <p:cNvSpPr txBox="1"/>
          <p:nvPr/>
        </p:nvSpPr>
        <p:spPr>
          <a:xfrm>
            <a:off x="7909560" y="4114800"/>
            <a:ext cx="3749040" cy="1188720"/>
          </a:xfrm>
          <a:prstGeom prst="rect">
            <a:avLst/>
          </a:prstGeom>
          <a:noFill/>
        </p:spPr>
        <p:txBody>
          <a:bodyPr wrap="square" lIns="0" rIns="0" tIns="0" bIns="0" anchor="t">
            <a:spAutoFit/>
          </a:bodyPr>
          <a:lstStyle/>
          <a:p>
            <a:pPr algn="l">
              <a:lnSpc>
                <a:spcPct val="150000"/>
              </a:lnSpc>
            </a:pPr>
            <a:r>
              <a:rPr sz="1000" b="0">
                <a:solidFill>
                  <a:srgbClr val="101410"/>
                </a:solidFill>
                <a:latin typeface="Noto Sans JP"/>
              </a:rPr>
              <a:t>「ここから始まる2026年からの10年間では、さらなる店舗拡大を目指し、『日本を代表するサラダボウル専門店』へと邁進いたします。」</a:t>
            </a:r>
          </a:p>
        </p:txBody>
      </p:sp>
      <p:sp>
        <p:nvSpPr>
          <p:cNvPr id="30" name="Rectangle 29"/>
          <p:cNvSpPr/>
          <p:nvPr/>
        </p:nvSpPr>
        <p:spPr>
          <a:xfrm>
            <a:off x="0" y="6473952"/>
            <a:ext cx="12191695" cy="384048"/>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492240"/>
            <a:ext cx="7315200" cy="365760"/>
          </a:xfrm>
          <a:prstGeom prst="rect">
            <a:avLst/>
          </a:prstGeom>
          <a:noFill/>
        </p:spPr>
        <p:txBody>
          <a:bodyPr wrap="square" lIns="0" rIns="0" tIns="0" bIns="0" anchor="ctr">
            <a:spAutoFit/>
          </a:bodyPr>
          <a:lstStyle/>
          <a:p>
            <a:pPr algn="l">
              <a:lnSpc>
                <a:spcPct val="115000"/>
              </a:lnSpc>
            </a:pPr>
            <a:r>
              <a:rPr sz="900" b="1">
                <a:solidFill>
                  <a:srgbClr val="FFFFFF"/>
                </a:solidFill>
                <a:latin typeface="Noto Sans JP"/>
              </a:rPr>
              <a:t>WITHGREEN HISTORY  ／  創業者・武文智洋社長の言葉でたどる10年の歩み</a:t>
            </a:r>
          </a:p>
        </p:txBody>
      </p:sp>
      <p:sp>
        <p:nvSpPr>
          <p:cNvPr id="32" name="TextBox 31"/>
          <p:cNvSpPr txBox="1"/>
          <p:nvPr/>
        </p:nvSpPr>
        <p:spPr>
          <a:xfrm>
            <a:off x="10362895" y="6492240"/>
            <a:ext cx="1463040" cy="365760"/>
          </a:xfrm>
          <a:prstGeom prst="rect">
            <a:avLst/>
          </a:prstGeom>
          <a:noFill/>
        </p:spPr>
        <p:txBody>
          <a:bodyPr wrap="square" lIns="0" rIns="0" tIns="0" bIns="0" anchor="ctr">
            <a:spAutoFit/>
          </a:bodyPr>
          <a:lstStyle/>
          <a:p>
            <a:pPr algn="r">
              <a:lnSpc>
                <a:spcPct val="115000"/>
              </a:lnSpc>
            </a:pPr>
            <a:r>
              <a:rPr sz="900" b="1">
                <a:solidFill>
                  <a:srgbClr val="FFFFFF"/>
                </a:solidFill>
                <a:latin typeface="DM Sans"/>
              </a:rPr>
              <a:t>05 / 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g_logo.png"/>
          <p:cNvPicPr>
            <a:picLocks noChangeAspect="1"/>
          </p:cNvPicPr>
          <p:nvPr/>
        </p:nvPicPr>
        <p:blipFill>
          <a:blip r:embed="rId2"/>
          <a:stretch>
            <a:fillRect/>
          </a:stretch>
        </p:blipFill>
        <p:spPr>
          <a:xfrm>
            <a:off x="548640" y="457200"/>
            <a:ext cx="2878649" cy="640080"/>
          </a:xfrm>
          <a:prstGeom prst="rect">
            <a:avLst/>
          </a:prstGeom>
        </p:spPr>
      </p:pic>
      <p:sp>
        <p:nvSpPr>
          <p:cNvPr id="4" name="TextBox 3"/>
          <p:cNvSpPr txBox="1"/>
          <p:nvPr/>
        </p:nvSpPr>
        <p:spPr>
          <a:xfrm>
            <a:off x="1463040" y="502920"/>
            <a:ext cx="7315200" cy="548640"/>
          </a:xfrm>
          <a:prstGeom prst="rect">
            <a:avLst/>
          </a:prstGeom>
          <a:noFill/>
        </p:spPr>
        <p:txBody>
          <a:bodyPr wrap="square" lIns="0" rIns="0" tIns="0" bIns="0" anchor="t">
            <a:spAutoFit/>
          </a:bodyPr>
          <a:lstStyle/>
          <a:p>
            <a:pPr algn="l">
              <a:lnSpc>
                <a:spcPct val="115000"/>
              </a:lnSpc>
            </a:pPr>
            <a:r>
              <a:rPr sz="2200" b="1">
                <a:solidFill>
                  <a:srgbClr val="FFFFFF"/>
                </a:solidFill>
                <a:latin typeface="DM Sans"/>
              </a:rPr>
              <a:t>WITHGREEN</a:t>
            </a:r>
          </a:p>
        </p:txBody>
      </p:sp>
      <p:sp>
        <p:nvSpPr>
          <p:cNvPr id="5" name="Rectangle 4"/>
          <p:cNvSpPr/>
          <p:nvPr/>
        </p:nvSpPr>
        <p:spPr>
          <a:xfrm>
            <a:off x="2804007" y="2194560"/>
            <a:ext cx="2103120" cy="201168"/>
          </a:xfrm>
          <a:prstGeom prst="rect">
            <a:avLst/>
          </a:prstGeom>
          <a:solidFill>
            <a:srgbClr val="0064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07127" y="1783080"/>
            <a:ext cx="914400" cy="777240"/>
          </a:xfrm>
          <a:prstGeom prst="rect">
            <a:avLst/>
          </a:prstGeom>
          <a:noFill/>
        </p:spPr>
        <p:txBody>
          <a:bodyPr wrap="square" lIns="0" rIns="0" tIns="0" bIns="0" anchor="t">
            <a:spAutoFit/>
          </a:bodyPr>
          <a:lstStyle/>
          <a:p>
            <a:pPr algn="ctr">
              <a:lnSpc>
                <a:spcPct val="115000"/>
              </a:lnSpc>
            </a:pPr>
            <a:r>
              <a:rPr sz="4200" b="1">
                <a:solidFill>
                  <a:srgbClr val="006423"/>
                </a:solidFill>
                <a:latin typeface="DM Sans"/>
              </a:rPr>
              <a:t>50</a:t>
            </a:r>
          </a:p>
        </p:txBody>
      </p:sp>
      <p:sp>
        <p:nvSpPr>
          <p:cNvPr id="7" name="TextBox 6"/>
          <p:cNvSpPr txBox="1"/>
          <p:nvPr/>
        </p:nvSpPr>
        <p:spPr>
          <a:xfrm>
            <a:off x="6004407" y="1783080"/>
            <a:ext cx="1097280" cy="777240"/>
          </a:xfrm>
          <a:prstGeom prst="rect">
            <a:avLst/>
          </a:prstGeom>
          <a:noFill/>
        </p:spPr>
        <p:txBody>
          <a:bodyPr wrap="square" lIns="0" rIns="0" tIns="0" bIns="0" anchor="t">
            <a:spAutoFit/>
          </a:bodyPr>
          <a:lstStyle/>
          <a:p>
            <a:pPr algn="ctr">
              <a:lnSpc>
                <a:spcPct val="115000"/>
              </a:lnSpc>
            </a:pPr>
            <a:r>
              <a:rPr sz="4200" b="1">
                <a:solidFill>
                  <a:srgbClr val="D8232A"/>
                </a:solidFill>
                <a:latin typeface="DM Sans"/>
              </a:rPr>
              <a:t>10th</a:t>
            </a:r>
          </a:p>
        </p:txBody>
      </p:sp>
      <p:sp>
        <p:nvSpPr>
          <p:cNvPr id="8" name="Rectangle 7"/>
          <p:cNvSpPr/>
          <p:nvPr/>
        </p:nvSpPr>
        <p:spPr>
          <a:xfrm>
            <a:off x="7284567" y="2194560"/>
            <a:ext cx="2103120" cy="201168"/>
          </a:xfrm>
          <a:prstGeom prst="rect">
            <a:avLst/>
          </a:prstGeom>
          <a:solidFill>
            <a:srgbClr val="D82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07127" y="2487168"/>
            <a:ext cx="914400" cy="274320"/>
          </a:xfrm>
          <a:prstGeom prst="rect">
            <a:avLst/>
          </a:prstGeom>
          <a:noFill/>
        </p:spPr>
        <p:txBody>
          <a:bodyPr wrap="square" lIns="0" rIns="0" tIns="0" bIns="0" anchor="t">
            <a:spAutoFit/>
          </a:bodyPr>
          <a:lstStyle/>
          <a:p>
            <a:pPr algn="ctr">
              <a:lnSpc>
                <a:spcPct val="115000"/>
              </a:lnSpc>
            </a:pPr>
            <a:r>
              <a:rPr sz="800" b="1">
                <a:solidFill>
                  <a:srgbClr val="006423"/>
                </a:solidFill>
                <a:latin typeface="DM Sans"/>
              </a:rPr>
              <a:t>STORES</a:t>
            </a:r>
          </a:p>
        </p:txBody>
      </p:sp>
      <p:sp>
        <p:nvSpPr>
          <p:cNvPr id="10" name="TextBox 9"/>
          <p:cNvSpPr txBox="1"/>
          <p:nvPr/>
        </p:nvSpPr>
        <p:spPr>
          <a:xfrm>
            <a:off x="6004407" y="2487168"/>
            <a:ext cx="1097280" cy="274320"/>
          </a:xfrm>
          <a:prstGeom prst="rect">
            <a:avLst/>
          </a:prstGeom>
          <a:noFill/>
        </p:spPr>
        <p:txBody>
          <a:bodyPr wrap="square" lIns="0" rIns="0" tIns="0" bIns="0" anchor="t">
            <a:spAutoFit/>
          </a:bodyPr>
          <a:lstStyle/>
          <a:p>
            <a:pPr algn="ctr">
              <a:lnSpc>
                <a:spcPct val="115000"/>
              </a:lnSpc>
            </a:pPr>
            <a:r>
              <a:rPr sz="800" b="1">
                <a:solidFill>
                  <a:srgbClr val="D8232A"/>
                </a:solidFill>
                <a:latin typeface="DM Sans"/>
              </a:rPr>
              <a:t>ANNIVERSARY</a:t>
            </a:r>
          </a:p>
        </p:txBody>
      </p:sp>
      <p:sp>
        <p:nvSpPr>
          <p:cNvPr id="11" name="TextBox 10"/>
          <p:cNvSpPr txBox="1"/>
          <p:nvPr/>
        </p:nvSpPr>
        <p:spPr>
          <a:xfrm>
            <a:off x="457200" y="2743200"/>
            <a:ext cx="11247120" cy="1463040"/>
          </a:xfrm>
          <a:prstGeom prst="rect">
            <a:avLst/>
          </a:prstGeom>
          <a:noFill/>
        </p:spPr>
        <p:txBody>
          <a:bodyPr wrap="square" lIns="0" rIns="0" tIns="0" bIns="0" anchor="t">
            <a:spAutoFit/>
          </a:bodyPr>
          <a:lstStyle/>
          <a:p>
            <a:pPr algn="ctr">
              <a:lnSpc>
                <a:spcPct val="125000"/>
              </a:lnSpc>
            </a:pPr>
            <a:r>
              <a:rPr sz="4600" b="1">
                <a:solidFill>
                  <a:srgbClr val="FFFFFF"/>
                </a:solidFill>
                <a:latin typeface="Noto Sans JP"/>
              </a:rPr>
              <a:t>サラダボウルを、</a:t>
            </a:r>
          </a:p>
          <a:p>
            <a:pPr algn="ctr">
              <a:lnSpc>
                <a:spcPct val="125000"/>
              </a:lnSpc>
            </a:pPr>
            <a:r>
              <a:rPr sz="4600" b="1">
                <a:solidFill>
                  <a:srgbClr val="FFFFFF"/>
                </a:solidFill>
                <a:latin typeface="Noto Sans JP"/>
              </a:rPr>
              <a:t>日本の新しい食文化へ。</a:t>
            </a:r>
          </a:p>
        </p:txBody>
      </p:sp>
      <p:sp>
        <p:nvSpPr>
          <p:cNvPr id="12" name="TextBox 11"/>
          <p:cNvSpPr txBox="1"/>
          <p:nvPr/>
        </p:nvSpPr>
        <p:spPr>
          <a:xfrm>
            <a:off x="457200" y="4754880"/>
            <a:ext cx="11247120" cy="548640"/>
          </a:xfrm>
          <a:prstGeom prst="rect">
            <a:avLst/>
          </a:prstGeom>
          <a:noFill/>
        </p:spPr>
        <p:txBody>
          <a:bodyPr wrap="square" lIns="0" rIns="0" tIns="0" bIns="0" anchor="t">
            <a:spAutoFit/>
          </a:bodyPr>
          <a:lstStyle/>
          <a:p>
            <a:pPr algn="ctr">
              <a:lnSpc>
                <a:spcPct val="115000"/>
              </a:lnSpc>
            </a:pPr>
            <a:r>
              <a:rPr sz="1400" b="1">
                <a:solidFill>
                  <a:srgbClr val="FFFFFF"/>
                </a:solidFill>
                <a:latin typeface="DM Sans"/>
              </a:rPr>
              <a:t>WITHGREEN  WITH  YOUR  LIFE</a:t>
            </a:r>
          </a:p>
        </p:txBody>
      </p:sp>
      <p:sp>
        <p:nvSpPr>
          <p:cNvPr id="13" name="TextBox 12"/>
          <p:cNvSpPr txBox="1"/>
          <p:nvPr/>
        </p:nvSpPr>
        <p:spPr>
          <a:xfrm>
            <a:off x="457200" y="5486400"/>
            <a:ext cx="11247120" cy="457200"/>
          </a:xfrm>
          <a:prstGeom prst="rect">
            <a:avLst/>
          </a:prstGeom>
          <a:noFill/>
        </p:spPr>
        <p:txBody>
          <a:bodyPr wrap="square" lIns="0" rIns="0" tIns="0" bIns="0" anchor="t">
            <a:spAutoFit/>
          </a:bodyPr>
          <a:lstStyle/>
          <a:p>
            <a:pPr algn="ctr">
              <a:lnSpc>
                <a:spcPct val="115000"/>
              </a:lnSpc>
            </a:pPr>
            <a:r>
              <a:rPr sz="900" b="0">
                <a:solidFill>
                  <a:srgbClr val="FFFFFF"/>
                </a:solidFill>
                <a:latin typeface="Noto Sans JP"/>
              </a:rPr>
              <a:t>出典：株式会社ネタもと『広報PRのチカラ』(2023) ／ PR TIMESプレスリリース (2026.3) ／ withgreen.club</a:t>
            </a:r>
          </a:p>
        </p:txBody>
      </p:sp>
      <p:sp>
        <p:nvSpPr>
          <p:cNvPr id="14" name="TextBox 13"/>
          <p:cNvSpPr txBox="1"/>
          <p:nvPr/>
        </p:nvSpPr>
        <p:spPr>
          <a:xfrm>
            <a:off x="457200" y="5852160"/>
            <a:ext cx="11247120" cy="457200"/>
          </a:xfrm>
          <a:prstGeom prst="rect">
            <a:avLst/>
          </a:prstGeom>
          <a:noFill/>
        </p:spPr>
        <p:txBody>
          <a:bodyPr wrap="square" lIns="0" rIns="0" tIns="0" bIns="0" anchor="t">
            <a:spAutoFit/>
          </a:bodyPr>
          <a:lstStyle/>
          <a:p>
            <a:pPr algn="ctr">
              <a:lnSpc>
                <a:spcPct val="115000"/>
              </a:lnSpc>
            </a:pPr>
            <a:r>
              <a:rPr sz="900" b="0">
                <a:solidFill>
                  <a:srgbClr val="FFFFFF"/>
                </a:solidFill>
                <a:latin typeface="Noto Sans JP"/>
              </a:rPr>
              <a:t>本資料はファンメイドの非公式アーカイブです。LOGO © WITHGREEN, INC.</a:t>
            </a:r>
          </a:p>
        </p:txBody>
      </p:sp>
      <p:sp>
        <p:nvSpPr>
          <p:cNvPr id="15" name="Rectangle 14"/>
          <p:cNvSpPr/>
          <p:nvPr/>
        </p:nvSpPr>
        <p:spPr>
          <a:xfrm>
            <a:off x="0" y="6812280"/>
            <a:ext cx="12191695"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